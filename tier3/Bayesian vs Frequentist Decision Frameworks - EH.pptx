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72904E-638F-4EF9-B5D1-FF6E1CD848B6}" type="datetimeFigureOut">
              <a:rPr lang="en-US" smtClean="0"/>
              <a:t>3/27/2026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9917E2-D802-44C1-B068-0DA637EE43AF}" type="slidenum">
              <a:rPr lang="en-US" smtClean="0"/>
              <a:t>‹#›</a:t>
            </a:fld>
            <a:endParaRPr lang="en-US"/>
          </a:p>
        </p:txBody>
      </p:sp>
    </p:spTree>
    <p:extLst>
      <p:ext uri="{BB962C8B-B14F-4D97-AF65-F5344CB8AC3E}">
        <p14:creationId xmlns:p14="http://schemas.microsoft.com/office/powerpoint/2010/main" val="378244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B9917E2-D802-44C1-B068-0DA637EE43AF}" type="slidenum">
              <a:rPr lang="en-US" smtClean="0"/>
              <a:t>20</a:t>
            </a:fld>
            <a:endParaRPr lang="en-US"/>
          </a:p>
        </p:txBody>
      </p:sp>
    </p:spTree>
    <p:extLst>
      <p:ext uri="{BB962C8B-B14F-4D97-AF65-F5344CB8AC3E}">
        <p14:creationId xmlns:p14="http://schemas.microsoft.com/office/powerpoint/2010/main" val="13991810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B752-2A9A-3571-79DF-88BF83190F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853C8C-0870-E31A-46FC-EEA3B7135F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C3B51D-EF8A-319E-6AD0-49346C1F28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C66BA3-59AB-45C9-4C31-0B0CEF98A92C}"/>
              </a:ext>
            </a:extLst>
          </p:cNvPr>
          <p:cNvSpPr>
            <a:spLocks noGrp="1"/>
          </p:cNvSpPr>
          <p:nvPr>
            <p:ph type="sldNum" sz="quarter" idx="5"/>
          </p:nvPr>
        </p:nvSpPr>
        <p:spPr/>
        <p:txBody>
          <a:bodyPr/>
          <a:lstStyle/>
          <a:p>
            <a:fld id="{2B9917E2-D802-44C1-B068-0DA637EE43AF}" type="slidenum">
              <a:rPr lang="en-US" smtClean="0"/>
              <a:t>21</a:t>
            </a:fld>
            <a:endParaRPr lang="en-US"/>
          </a:p>
        </p:txBody>
      </p:sp>
    </p:spTree>
    <p:extLst>
      <p:ext uri="{BB962C8B-B14F-4D97-AF65-F5344CB8AC3E}">
        <p14:creationId xmlns:p14="http://schemas.microsoft.com/office/powerpoint/2010/main" val="2756614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FA037-ABE7-C6AB-A3AC-0FEBF4523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4E09E8-A910-E8C3-38D8-B37627A1EB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3C350-FA95-4D50-0083-CA93483AE3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FBC6CC-E872-73CE-3C79-BCC5FD1D01E9}"/>
              </a:ext>
            </a:extLst>
          </p:cNvPr>
          <p:cNvSpPr>
            <a:spLocks noGrp="1"/>
          </p:cNvSpPr>
          <p:nvPr>
            <p:ph type="sldNum" sz="quarter" idx="5"/>
          </p:nvPr>
        </p:nvSpPr>
        <p:spPr/>
        <p:txBody>
          <a:bodyPr/>
          <a:lstStyle/>
          <a:p>
            <a:fld id="{2B9917E2-D802-44C1-B068-0DA637EE43AF}" type="slidenum">
              <a:rPr lang="en-US" smtClean="0"/>
              <a:t>22</a:t>
            </a:fld>
            <a:endParaRPr lang="en-US"/>
          </a:p>
        </p:txBody>
      </p:sp>
    </p:spTree>
    <p:extLst>
      <p:ext uri="{BB962C8B-B14F-4D97-AF65-F5344CB8AC3E}">
        <p14:creationId xmlns:p14="http://schemas.microsoft.com/office/powerpoint/2010/main" val="2873383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77A6D-3C59-6873-CACD-8EBD2591C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F0CDA2-6D41-1FD1-15C3-36789BAA21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5938F5-AEAE-7148-EEB1-C0E18A8FB7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A867F7-F26B-AB1B-250A-3A2967549F94}"/>
              </a:ext>
            </a:extLst>
          </p:cNvPr>
          <p:cNvSpPr>
            <a:spLocks noGrp="1"/>
          </p:cNvSpPr>
          <p:nvPr>
            <p:ph type="sldNum" sz="quarter" idx="5"/>
          </p:nvPr>
        </p:nvSpPr>
        <p:spPr/>
        <p:txBody>
          <a:bodyPr/>
          <a:lstStyle/>
          <a:p>
            <a:fld id="{2B9917E2-D802-44C1-B068-0DA637EE43AF}" type="slidenum">
              <a:rPr lang="en-US" smtClean="0"/>
              <a:t>23</a:t>
            </a:fld>
            <a:endParaRPr lang="en-US"/>
          </a:p>
        </p:txBody>
      </p:sp>
    </p:spTree>
    <p:extLst>
      <p:ext uri="{BB962C8B-B14F-4D97-AF65-F5344CB8AC3E}">
        <p14:creationId xmlns:p14="http://schemas.microsoft.com/office/powerpoint/2010/main" val="1933403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3/26/2026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4741483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3/26/2026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40898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3/26/2026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1564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3/26/2026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96820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3/26/2026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373732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3/26/2026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41560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3/26/2026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31910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3/26/2026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716905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3/26/2026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29070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3/26/2026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24779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3/26/2026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2534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3/26/2026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594154493"/>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mettl.com/clients/company/miami-dade-college/"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mettl.com/clients/company/miami-dade-college/"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mettl.com/clients/company/miami-dade-college/"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mettl.com/clients/company/miami-dade-college/"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nsf.gov/pubs/2021/nsf21579/nsf21579.htm" TargetMode="External"/><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https://mettl.com/clients/company/miami-dade-colleg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Freeform: Shape 30">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3" name="Rectangle 32">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AE300C3-4BD4-3725-2C7B-C74252976F2E}"/>
              </a:ext>
            </a:extLst>
          </p:cNvPr>
          <p:cNvSpPr>
            <a:spLocks noGrp="1"/>
          </p:cNvSpPr>
          <p:nvPr>
            <p:ph type="ctrTitle"/>
          </p:nvPr>
        </p:nvSpPr>
        <p:spPr>
          <a:xfrm>
            <a:off x="517870" y="1050835"/>
            <a:ext cx="6281928" cy="1463040"/>
          </a:xfrm>
        </p:spPr>
        <p:txBody>
          <a:bodyPr vert="horz" lIns="91440" tIns="45720" rIns="91440" bIns="45720" rtlCol="0" anchor="t">
            <a:normAutofit/>
          </a:bodyPr>
          <a:lstStyle/>
          <a:p>
            <a:pPr>
              <a:lnSpc>
                <a:spcPct val="90000"/>
              </a:lnSpc>
            </a:pPr>
            <a:r>
              <a:rPr lang="en-US" sz="2400" b="1" kern="1200" dirty="0">
                <a:solidFill>
                  <a:schemeClr val="tx1"/>
                </a:solidFill>
                <a:latin typeface="+mj-lt"/>
                <a:ea typeface="+mj-ea"/>
                <a:cs typeface="+mj-cs"/>
              </a:rPr>
              <a:t>Bayesian vs Frequentist Decision Frameworks</a:t>
            </a:r>
            <a:br>
              <a:rPr lang="en-US" sz="2400" b="1" kern="1200" dirty="0">
                <a:solidFill>
                  <a:schemeClr val="tx1"/>
                </a:solidFill>
                <a:latin typeface="+mj-lt"/>
                <a:ea typeface="+mj-ea"/>
                <a:cs typeface="+mj-cs"/>
              </a:rPr>
            </a:br>
            <a:r>
              <a:rPr lang="en-US" sz="2400" b="1" kern="1200" dirty="0">
                <a:solidFill>
                  <a:schemeClr val="tx1"/>
                </a:solidFill>
                <a:latin typeface="+mj-lt"/>
                <a:ea typeface="+mj-ea"/>
                <a:cs typeface="+mj-cs"/>
              </a:rPr>
              <a:t>Connections via LDA, Neyman–Pearson, and Logistic Regression</a:t>
            </a:r>
          </a:p>
        </p:txBody>
      </p:sp>
      <p:sp>
        <p:nvSpPr>
          <p:cNvPr id="35" name="Rectangle 34">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591ADC26-4A3A-5986-335C-5510158CC4AC}"/>
              </a:ext>
            </a:extLst>
          </p:cNvPr>
          <p:cNvSpPr>
            <a:spLocks noGrp="1"/>
          </p:cNvSpPr>
          <p:nvPr>
            <p:ph type="subTitle" idx="1"/>
          </p:nvPr>
        </p:nvSpPr>
        <p:spPr>
          <a:xfrm>
            <a:off x="521208" y="2578608"/>
            <a:ext cx="6281928" cy="3767328"/>
          </a:xfrm>
        </p:spPr>
        <p:txBody>
          <a:bodyPr vert="horz" lIns="91440" tIns="45720" rIns="91440" bIns="45720" rtlCol="0">
            <a:normAutofit/>
          </a:bodyPr>
          <a:lstStyle/>
          <a:p>
            <a:pPr indent="-228600">
              <a:buFont typeface="Arial" panose="020B0604020202020204" pitchFamily="34" charset="0"/>
              <a:buChar char="•"/>
            </a:pPr>
            <a:endParaRPr lang="en-US" dirty="0"/>
          </a:p>
          <a:p>
            <a:r>
              <a:rPr lang="en-US" dirty="0"/>
              <a:t>Dr. Eric Hernandez</a:t>
            </a:r>
            <a:br>
              <a:rPr lang="en-US" dirty="0"/>
            </a:br>
            <a:r>
              <a:rPr lang="en-US" dirty="0"/>
              <a:t>Mathematics Department</a:t>
            </a:r>
            <a:br>
              <a:rPr lang="en-US" dirty="0"/>
            </a:br>
            <a:r>
              <a:rPr lang="en-US" dirty="0"/>
              <a:t>Miami Dade College</a:t>
            </a:r>
          </a:p>
        </p:txBody>
      </p:sp>
      <p:pic>
        <p:nvPicPr>
          <p:cNvPr id="7" name="Picture 6" descr="A blue text on a black background&#10;&#10;AI-generated content may be incorrect.">
            <a:extLst>
              <a:ext uri="{FF2B5EF4-FFF2-40B4-BE49-F238E27FC236}">
                <a16:creationId xmlns:a16="http://schemas.microsoft.com/office/drawing/2014/main" id="{AC0FBC40-258B-DBEA-F7D5-5B9579B0F79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314331" y="5213817"/>
            <a:ext cx="4356461" cy="1132119"/>
          </a:xfrm>
          <a:prstGeom prst="rect">
            <a:avLst/>
          </a:prstGeom>
        </p:spPr>
      </p:pic>
    </p:spTree>
    <p:extLst>
      <p:ext uri="{BB962C8B-B14F-4D97-AF65-F5344CB8AC3E}">
        <p14:creationId xmlns:p14="http://schemas.microsoft.com/office/powerpoint/2010/main" val="4166584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9EE42DCE-4A4F-44C4-84E5-261B3BEEF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DDEBC2B-0CA1-01BE-3077-2C8A0BD57186}"/>
              </a:ext>
            </a:extLst>
          </p:cNvPr>
          <p:cNvSpPr txBox="1"/>
          <p:nvPr/>
        </p:nvSpPr>
        <p:spPr>
          <a:xfrm>
            <a:off x="625605" y="1378458"/>
            <a:ext cx="10756770" cy="3767328"/>
          </a:xfrm>
          <a:prstGeom prst="rect">
            <a:avLst/>
          </a:prstGeom>
        </p:spPr>
        <p:txBody>
          <a:bodyPr vert="horz" lIns="91440" tIns="45720" rIns="91440" bIns="45720" rtlCol="0">
            <a:normAutofit/>
          </a:bodyPr>
          <a:lstStyle/>
          <a:p>
            <a:pPr>
              <a:lnSpc>
                <a:spcPct val="110000"/>
              </a:lnSpc>
              <a:spcAft>
                <a:spcPts val="600"/>
              </a:spcAft>
            </a:pPr>
            <a:r>
              <a:rPr lang="en-US" b="1" dirty="0"/>
              <a:t>                 Goal:</a:t>
            </a:r>
            <a:r>
              <a:rPr lang="en-US" dirty="0"/>
              <a:t> Understand how different statistical philosophies lead to similar decision rules.</a:t>
            </a:r>
          </a:p>
          <a:p>
            <a:pPr>
              <a:lnSpc>
                <a:spcPct val="110000"/>
              </a:lnSpc>
              <a:spcAft>
                <a:spcPts val="600"/>
              </a:spcAft>
            </a:pPr>
            <a:endParaRPr lang="en-US" dirty="0"/>
          </a:p>
          <a:p>
            <a:pPr>
              <a:lnSpc>
                <a:spcPct val="110000"/>
              </a:lnSpc>
              <a:spcAft>
                <a:spcPts val="600"/>
              </a:spcAft>
            </a:pPr>
            <a:r>
              <a:rPr lang="en-US" dirty="0"/>
              <a:t>     Three frameworks:</a:t>
            </a:r>
          </a:p>
          <a:p>
            <a:pPr>
              <a:lnSpc>
                <a:spcPct val="110000"/>
              </a:lnSpc>
              <a:spcAft>
                <a:spcPts val="600"/>
              </a:spcAft>
            </a:pPr>
            <a:r>
              <a:rPr lang="en-US" b="1" dirty="0"/>
              <a:t>1. Bayesian:</a:t>
            </a:r>
            <a:r>
              <a:rPr lang="en-US" dirty="0"/>
              <a:t> Posterior probabilities </a:t>
            </a:r>
          </a:p>
          <a:p>
            <a:pPr>
              <a:lnSpc>
                <a:spcPct val="110000"/>
              </a:lnSpc>
              <a:spcAft>
                <a:spcPts val="600"/>
              </a:spcAft>
            </a:pPr>
            <a:r>
              <a:rPr lang="en-US" b="1" dirty="0"/>
              <a:t>2. Frequentist (Neyman–Pearson):</a:t>
            </a:r>
            <a:r>
              <a:rPr lang="en-US" dirty="0"/>
              <a:t> Likelihood ratios </a:t>
            </a:r>
          </a:p>
          <a:p>
            <a:pPr>
              <a:lnSpc>
                <a:spcPct val="110000"/>
              </a:lnSpc>
              <a:spcAft>
                <a:spcPts val="600"/>
              </a:spcAft>
            </a:pPr>
            <a:r>
              <a:rPr lang="en-US" b="1" dirty="0"/>
              <a:t>3. Statistical Learning:</a:t>
            </a:r>
            <a:r>
              <a:rPr lang="en-US" dirty="0"/>
              <a:t> Logistic regression </a:t>
            </a:r>
          </a:p>
          <a:p>
            <a:pPr>
              <a:lnSpc>
                <a:spcPct val="110000"/>
              </a:lnSpc>
              <a:spcAft>
                <a:spcPts val="600"/>
              </a:spcAft>
            </a:pPr>
            <a:endParaRPr lang="en-US" dirty="0"/>
          </a:p>
          <a:p>
            <a:pPr>
              <a:lnSpc>
                <a:spcPct val="110000"/>
              </a:lnSpc>
              <a:spcAft>
                <a:spcPts val="600"/>
              </a:spcAft>
            </a:pPr>
            <a:r>
              <a:rPr lang="en-US" dirty="0"/>
              <a:t> </a:t>
            </a:r>
            <a:r>
              <a:rPr lang="en-US" i="1" dirty="0"/>
              <a:t>All lead to the same decision boundary under certain assumptions</a:t>
            </a:r>
            <a:endParaRPr lang="en-US" dirty="0"/>
          </a:p>
          <a:p>
            <a:pPr indent="-228600">
              <a:lnSpc>
                <a:spcPct val="110000"/>
              </a:lnSpc>
              <a:spcAft>
                <a:spcPts val="600"/>
              </a:spcAft>
              <a:buFont typeface="Arial" panose="020B0604020202020204" pitchFamily="34" charset="0"/>
              <a:buChar char="•"/>
            </a:pPr>
            <a:endParaRPr lang="en-US" dirty="0"/>
          </a:p>
        </p:txBody>
      </p:sp>
      <p:pic>
        <p:nvPicPr>
          <p:cNvPr id="3" name="Picture 2" descr="A blue text on a black background&#10;&#10;AI-generated content may be incorrect.">
            <a:extLst>
              <a:ext uri="{FF2B5EF4-FFF2-40B4-BE49-F238E27FC236}">
                <a16:creationId xmlns:a16="http://schemas.microsoft.com/office/drawing/2014/main" id="{9E26C1CE-2AFF-4B8B-4DFF-7145774D63BB}"/>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1544831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43FE5F-8B33-4A67-12F9-CB87C6BCCB12}"/>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6A19EAF0-B9C4-AC63-77BA-B90F68DA72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53901824-2608-DBC6-28DE-5F498D8FC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750D0C1-0EEC-0463-8632-54B5BB0312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24CFFC2-23C6-952A-DCEC-01A3C90D1E71}"/>
              </a:ext>
            </a:extLst>
          </p:cNvPr>
          <p:cNvSpPr txBox="1"/>
          <p:nvPr/>
        </p:nvSpPr>
        <p:spPr>
          <a:xfrm>
            <a:off x="598445" y="1387512"/>
            <a:ext cx="9622918" cy="3767328"/>
          </a:xfrm>
          <a:prstGeom prst="rect">
            <a:avLst/>
          </a:prstGeom>
        </p:spPr>
        <p:txBody>
          <a:bodyPr vert="horz" lIns="91440" tIns="45720" rIns="91440" bIns="45720" rtlCol="0">
            <a:normAutofit/>
          </a:bodyPr>
          <a:lstStyle/>
          <a:p>
            <a:pPr algn="ctr">
              <a:lnSpc>
                <a:spcPct val="110000"/>
              </a:lnSpc>
              <a:spcAft>
                <a:spcPts val="600"/>
              </a:spcAft>
            </a:pPr>
            <a:r>
              <a:rPr lang="en-US" b="1" dirty="0"/>
              <a:t>                 Philosophical Foundations.</a:t>
            </a:r>
          </a:p>
          <a:p>
            <a:pPr>
              <a:lnSpc>
                <a:spcPct val="110000"/>
              </a:lnSpc>
              <a:spcAft>
                <a:spcPts val="600"/>
              </a:spcAft>
            </a:pPr>
            <a:endParaRPr lang="en-US" dirty="0"/>
          </a:p>
          <a:p>
            <a:pPr>
              <a:buNone/>
            </a:pPr>
            <a:r>
              <a:rPr lang="en-US" dirty="0"/>
              <a:t>    </a:t>
            </a:r>
            <a:r>
              <a:rPr lang="en-US" b="1" dirty="0"/>
              <a:t>Frequentist</a:t>
            </a:r>
            <a:endParaRPr lang="en-US" dirty="0"/>
          </a:p>
          <a:p>
            <a:pPr>
              <a:buFont typeface="Arial" panose="020B0604020202020204" pitchFamily="34" charset="0"/>
              <a:buChar char="•"/>
            </a:pPr>
            <a:r>
              <a:rPr lang="en-US" dirty="0"/>
              <a:t>Parameters are fixed </a:t>
            </a:r>
          </a:p>
          <a:p>
            <a:pPr>
              <a:buFont typeface="Arial" panose="020B0604020202020204" pitchFamily="34" charset="0"/>
              <a:buChar char="•"/>
            </a:pPr>
            <a:r>
              <a:rPr lang="en-US" dirty="0"/>
              <a:t>Probability = long-run frequency </a:t>
            </a:r>
          </a:p>
          <a:p>
            <a:pPr>
              <a:buFont typeface="Arial" panose="020B0604020202020204" pitchFamily="34" charset="0"/>
              <a:buChar char="•"/>
            </a:pPr>
            <a:r>
              <a:rPr lang="en-US" dirty="0"/>
              <a:t>Focus: hypothesis testing &amp; error control </a:t>
            </a:r>
          </a:p>
          <a:p>
            <a:endParaRPr lang="en-US" dirty="0"/>
          </a:p>
          <a:p>
            <a:pPr>
              <a:buNone/>
            </a:pPr>
            <a:r>
              <a:rPr lang="en-US" b="1" dirty="0"/>
              <a:t>Bayesian</a:t>
            </a:r>
            <a:endParaRPr lang="en-US" dirty="0"/>
          </a:p>
          <a:p>
            <a:pPr>
              <a:buFont typeface="Arial" panose="020B0604020202020204" pitchFamily="34" charset="0"/>
              <a:buChar char="•"/>
            </a:pPr>
            <a:r>
              <a:rPr lang="en-US" dirty="0"/>
              <a:t>Parameters are random </a:t>
            </a:r>
          </a:p>
          <a:p>
            <a:pPr>
              <a:buFont typeface="Arial" panose="020B0604020202020204" pitchFamily="34" charset="0"/>
              <a:buChar char="•"/>
            </a:pPr>
            <a:r>
              <a:rPr lang="en-US" dirty="0"/>
              <a:t>Probability = degree of belief </a:t>
            </a:r>
          </a:p>
          <a:p>
            <a:pPr>
              <a:buFont typeface="Arial" panose="020B0604020202020204" pitchFamily="34" charset="0"/>
              <a:buChar char="•"/>
            </a:pPr>
            <a:r>
              <a:rPr lang="en-US" dirty="0"/>
              <a:t>Focus: posterior inference</a:t>
            </a:r>
          </a:p>
          <a:p>
            <a:pPr>
              <a:lnSpc>
                <a:spcPct val="110000"/>
              </a:lnSpc>
              <a:spcAft>
                <a:spcPts val="600"/>
              </a:spcAft>
            </a:pPr>
            <a:r>
              <a:rPr lang="en-US" dirty="0"/>
              <a:t> </a:t>
            </a:r>
          </a:p>
        </p:txBody>
      </p:sp>
      <p:pic>
        <p:nvPicPr>
          <p:cNvPr id="3" name="Picture 2" descr="A blue text on a black background&#10;&#10;AI-generated content may be incorrect.">
            <a:extLst>
              <a:ext uri="{FF2B5EF4-FFF2-40B4-BE49-F238E27FC236}">
                <a16:creationId xmlns:a16="http://schemas.microsoft.com/office/drawing/2014/main" id="{4176D343-E2DE-9C77-B483-AF11B0C91A7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3805905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62E675-CB62-876F-41F2-9C55E6C60AF0}"/>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B4E2281B-E6E8-A002-17FD-32368D372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122F337F-FF81-1A08-A88F-EF396E9B8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331A7220-3CB1-2444-2342-6C5DB496A3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B35C9D76-0299-CE3F-C602-A508FDD2880A}"/>
                  </a:ext>
                </a:extLst>
              </p:cNvPr>
              <p:cNvSpPr txBox="1"/>
              <p:nvPr/>
            </p:nvSpPr>
            <p:spPr>
              <a:xfrm>
                <a:off x="589391" y="1472375"/>
                <a:ext cx="9659132" cy="3767328"/>
              </a:xfrm>
              <a:prstGeom prst="rect">
                <a:avLst/>
              </a:prstGeom>
            </p:spPr>
            <p:txBody>
              <a:bodyPr vert="horz" lIns="91440" tIns="45720" rIns="91440" bIns="45720" rtlCol="0">
                <a:normAutofit/>
              </a:bodyPr>
              <a:lstStyle/>
              <a:p>
                <a:pPr algn="ctr"/>
                <a:r>
                  <a:rPr lang="en-US" b="1" dirty="0"/>
                  <a:t>                 Binary Classification Setup</a:t>
                </a:r>
              </a:p>
              <a:p>
                <a:pPr algn="ctr"/>
                <a:endParaRPr lang="en-US" b="1" dirty="0"/>
              </a:p>
              <a:p>
                <a:endParaRPr lang="en-US" b="1" dirty="0"/>
              </a:p>
              <a:p>
                <a:endParaRPr lang="en-US" b="1" dirty="0"/>
              </a:p>
              <a:p>
                <a:r>
                  <a:rPr lang="en-US" dirty="0"/>
                  <a:t>Let:</a:t>
                </a:r>
              </a:p>
              <a:p>
                <a14:m>
                  <m:oMathPara xmlns:m="http://schemas.openxmlformats.org/officeDocument/2006/math">
                    <m:oMathParaPr>
                      <m:jc m:val="centerGroup"/>
                    </m:oMathParaPr>
                    <m:oMath xmlns:m="http://schemas.openxmlformats.org/officeDocument/2006/math">
                      <m:r>
                        <a:rPr lang="en-US" i="1"/>
                        <m:t>𝑌</m:t>
                      </m:r>
                      <m:r>
                        <a:rPr lang="en-US"/>
                        <m:t>∈</m:t>
                      </m:r>
                      <m:d>
                        <m:dPr>
                          <m:begChr m:val="{"/>
                          <m:endChr m:val="}"/>
                          <m:sepChr m:val=","/>
                          <m:ctrlPr>
                            <a:rPr lang="ar-AE" i="1"/>
                          </m:ctrlPr>
                        </m:dPr>
                        <m:e>
                          <m:r>
                            <a:rPr lang="ar-AE"/>
                            <m:t>0</m:t>
                          </m:r>
                        </m:e>
                        <m:e>
                          <m:r>
                            <a:rPr lang="ar-AE"/>
                            <m:t>1</m:t>
                          </m:r>
                        </m:e>
                      </m:d>
                      <m:r>
                        <a:rPr lang="ar-AE"/>
                        <m:t>,</m:t>
                      </m:r>
                      <m:r>
                        <a:rPr lang="en-US" b="0" i="0" smtClean="0">
                          <a:latin typeface="Cambria Math" panose="02040503050406030204" pitchFamily="18" charset="0"/>
                        </a:rPr>
                        <m:t> </m:t>
                      </m:r>
                      <m:r>
                        <a:rPr lang="ar-AE"/>
                        <m:t> </m:t>
                      </m:r>
                      <m:r>
                        <a:rPr lang="ar-AE" i="1"/>
                        <m:t>𝑋</m:t>
                      </m:r>
                      <m:r>
                        <a:rPr lang="ar-AE"/>
                        <m:t>=</m:t>
                      </m:r>
                      <m:r>
                        <a:rPr lang="ar-AE" i="1"/>
                        <m:t>𝑥</m:t>
                      </m:r>
                    </m:oMath>
                  </m:oMathPara>
                </a14:m>
                <a:endParaRPr lang="en-US" dirty="0"/>
              </a:p>
              <a:p>
                <a:endParaRPr lang="ar-AE" dirty="0"/>
              </a:p>
              <a:p>
                <a:r>
                  <a:rPr lang="en-US" dirty="0"/>
                  <a:t>Goal:</a:t>
                </a:r>
              </a:p>
              <a:p>
                <a14:m>
                  <m:oMathPara xmlns:m="http://schemas.openxmlformats.org/officeDocument/2006/math">
                    <m:oMathParaPr>
                      <m:jc m:val="centerGroup"/>
                    </m:oMathParaPr>
                    <m:oMath xmlns:m="http://schemas.openxmlformats.org/officeDocument/2006/math">
                      <m:r>
                        <m:rPr>
                          <m:nor/>
                        </m:rPr>
                        <a:rPr lang="en-US" b="0"/>
                        <m:t>Classify</m:t>
                      </m:r>
                      <m:r>
                        <m:rPr>
                          <m:nor/>
                        </m:rPr>
                        <a:rPr lang="en-US" b="0" i="1"/>
                        <m:t> </m:t>
                      </m:r>
                      <m:r>
                        <a:rPr lang="en-US" b="0" i="1"/>
                        <m:t>𝑥</m:t>
                      </m:r>
                      <m:r>
                        <m:rPr>
                          <m:nor/>
                        </m:rPr>
                        <a:rPr lang="en-US" b="0" i="1"/>
                        <m:t> </m:t>
                      </m:r>
                      <m:r>
                        <m:rPr>
                          <m:nor/>
                        </m:rPr>
                        <a:rPr lang="en-US" b="0" i="1"/>
                        <m:t>into</m:t>
                      </m:r>
                      <m:r>
                        <m:rPr>
                          <m:nor/>
                        </m:rPr>
                        <a:rPr lang="en-US" b="0" i="1"/>
                        <m:t> </m:t>
                      </m:r>
                      <m:r>
                        <m:rPr>
                          <m:nor/>
                        </m:rPr>
                        <a:rPr lang="en-US" b="0" i="1"/>
                        <m:t>class</m:t>
                      </m:r>
                      <m:r>
                        <m:rPr>
                          <m:nor/>
                        </m:rPr>
                        <a:rPr lang="en-US" b="0" i="1"/>
                        <m:t> </m:t>
                      </m:r>
                      <m:r>
                        <a:rPr lang="en-US"/>
                        <m:t>0</m:t>
                      </m:r>
                      <m:r>
                        <m:rPr>
                          <m:nor/>
                        </m:rPr>
                        <a:rPr lang="en-US" i="1"/>
                        <m:t> </m:t>
                      </m:r>
                      <m:r>
                        <m:rPr>
                          <m:nor/>
                        </m:rPr>
                        <a:rPr lang="en-US" i="1"/>
                        <m:t>or</m:t>
                      </m:r>
                      <m:r>
                        <m:rPr>
                          <m:nor/>
                        </m:rPr>
                        <a:rPr lang="en-US" i="1"/>
                        <m:t> </m:t>
                      </m:r>
                      <m:r>
                        <a:rPr lang="en-US"/>
                        <m:t>1</m:t>
                      </m:r>
                    </m:oMath>
                  </m:oMathPara>
                </a14:m>
                <a:endParaRPr lang="en-US" b="0" dirty="0"/>
              </a:p>
              <a:p>
                <a:pPr>
                  <a:lnSpc>
                    <a:spcPct val="110000"/>
                  </a:lnSpc>
                  <a:spcAft>
                    <a:spcPts val="600"/>
                  </a:spcAft>
                </a:pPr>
                <a:r>
                  <a:rPr lang="en-US" dirty="0"/>
                  <a:t> </a:t>
                </a:r>
              </a:p>
            </p:txBody>
          </p:sp>
        </mc:Choice>
        <mc:Fallback>
          <p:sp>
            <p:nvSpPr>
              <p:cNvPr id="2" name="TextBox 1">
                <a:extLst>
                  <a:ext uri="{FF2B5EF4-FFF2-40B4-BE49-F238E27FC236}">
                    <a16:creationId xmlns:a16="http://schemas.microsoft.com/office/drawing/2014/main" id="{B35C9D76-0299-CE3F-C602-A508FDD2880A}"/>
                  </a:ext>
                </a:extLst>
              </p:cNvPr>
              <p:cNvSpPr txBox="1">
                <a:spLocks noRot="1" noChangeAspect="1" noMove="1" noResize="1" noEditPoints="1" noAdjustHandles="1" noChangeArrowheads="1" noChangeShapeType="1" noTextEdit="1"/>
              </p:cNvSpPr>
              <p:nvPr/>
            </p:nvSpPr>
            <p:spPr>
              <a:xfrm>
                <a:off x="589391" y="1472375"/>
                <a:ext cx="9659132" cy="3767328"/>
              </a:xfrm>
              <a:prstGeom prst="rect">
                <a:avLst/>
              </a:prstGeom>
              <a:blipFill>
                <a:blip r:embed="rId2"/>
                <a:stretch>
                  <a:fillRect l="-568" t="-971"/>
                </a:stretch>
              </a:blipFill>
            </p:spPr>
            <p:txBody>
              <a:bodyPr/>
              <a:lstStyle/>
              <a:p>
                <a:r>
                  <a:rPr lang="en-US">
                    <a:noFill/>
                  </a:rPr>
                  <a:t> </a:t>
                </a:r>
              </a:p>
            </p:txBody>
          </p:sp>
        </mc:Fallback>
      </mc:AlternateContent>
      <p:pic>
        <p:nvPicPr>
          <p:cNvPr id="3" name="Picture 2" descr="A blue text on a black background&#10;&#10;AI-generated content may be incorrect.">
            <a:extLst>
              <a:ext uri="{FF2B5EF4-FFF2-40B4-BE49-F238E27FC236}">
                <a16:creationId xmlns:a16="http://schemas.microsoft.com/office/drawing/2014/main" id="{6ADC9656-DF98-32EB-62BC-42682C8EC7EB}"/>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2190798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DF4AF0-0AA8-F8D7-FC14-0013673CBFB6}"/>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B699D269-5DF2-C4B6-4CD0-5168A86BFB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D2DCAD64-2CF4-9481-E43F-17BB7718A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1C3A95F4-6127-09B5-A5DF-804368F46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2DB82C2-C26C-A3BC-5D0F-CCBAE1ED4FD0}"/>
                  </a:ext>
                </a:extLst>
              </p:cNvPr>
              <p:cNvSpPr txBox="1"/>
              <p:nvPr/>
            </p:nvSpPr>
            <p:spPr>
              <a:xfrm>
                <a:off x="589391" y="1472375"/>
                <a:ext cx="9659132" cy="3767328"/>
              </a:xfrm>
              <a:prstGeom prst="rect">
                <a:avLst/>
              </a:prstGeom>
            </p:spPr>
            <p:txBody>
              <a:bodyPr vert="horz" lIns="91440" tIns="45720" rIns="91440" bIns="45720" rtlCol="0">
                <a:normAutofit fontScale="92500" lnSpcReduction="10000"/>
              </a:bodyPr>
              <a:lstStyle/>
              <a:p>
                <a:pPr algn="ctr"/>
                <a:r>
                  <a:rPr lang="en-US" b="1" dirty="0"/>
                  <a:t>Bayesian Decision Rule</a:t>
                </a:r>
              </a:p>
              <a:p>
                <a:pPr algn="ctr"/>
                <a:endParaRPr lang="en-US" b="1" dirty="0"/>
              </a:p>
              <a:p>
                <a:pPr algn="ctr"/>
                <a:endParaRPr lang="en-US" b="1" dirty="0"/>
              </a:p>
              <a:p>
                <a:r>
                  <a:rPr lang="en-US" dirty="0"/>
                  <a:t>Using Bayes rule:</a:t>
                </a:r>
              </a:p>
              <a:p>
                <a14:m>
                  <m:oMathPara xmlns:m="http://schemas.openxmlformats.org/officeDocument/2006/math">
                    <m:oMathParaPr>
                      <m:jc m:val="centerGroup"/>
                    </m:oMathParaPr>
                    <m:oMath xmlns:m="http://schemas.openxmlformats.org/officeDocument/2006/math">
                      <m:r>
                        <a:rPr lang="en-US" i="1"/>
                        <m:t>𝑃</m:t>
                      </m:r>
                      <m:d>
                        <m:dPr>
                          <m:ctrlPr>
                            <a:rPr lang="ar-AE" i="1"/>
                          </m:ctrlPr>
                        </m:dPr>
                        <m:e>
                          <m:r>
                            <a:rPr lang="ar-AE" i="1"/>
                            <m:t>𝑌</m:t>
                          </m:r>
                          <m:r>
                            <a:rPr lang="ar-AE"/>
                            <m:t>=</m:t>
                          </m:r>
                          <m:r>
                            <a:rPr lang="ar-AE"/>
                            <m:t>1</m:t>
                          </m:r>
                          <m:r>
                            <a:rPr lang="ar-AE"/>
                            <m:t>∣</m:t>
                          </m:r>
                          <m:r>
                            <a:rPr lang="ar-AE" i="1"/>
                            <m:t>𝑥</m:t>
                          </m:r>
                        </m:e>
                      </m:d>
                      <m:r>
                        <a:rPr lang="ar-AE"/>
                        <m:t>=</m:t>
                      </m:r>
                      <m:f>
                        <m:fPr>
                          <m:ctrlPr>
                            <a:rPr lang="ar-AE" i="1"/>
                          </m:ctrlPr>
                        </m:fPr>
                        <m:num>
                          <m:sSub>
                            <m:sSubPr>
                              <m:ctrlPr>
                                <a:rPr lang="ar-AE" i="1"/>
                              </m:ctrlPr>
                            </m:sSubPr>
                            <m:e>
                              <m:r>
                                <a:rPr lang="ar-AE" i="1"/>
                                <m:t>𝜋</m:t>
                              </m:r>
                            </m:e>
                            <m:sub>
                              <m:r>
                                <a:rPr lang="ar-AE"/>
                                <m:t>1</m:t>
                              </m:r>
                            </m:sub>
                          </m:sSub>
                          <m:sSub>
                            <m:sSubPr>
                              <m:ctrlPr>
                                <a:rPr lang="ar-AE" i="1"/>
                              </m:ctrlPr>
                            </m:sSubPr>
                            <m:e>
                              <m:r>
                                <a:rPr lang="ar-AE" i="1"/>
                                <m:t>𝑓</m:t>
                              </m:r>
                            </m:e>
                            <m:sub>
                              <m:r>
                                <a:rPr lang="ar-AE"/>
                                <m:t>1</m:t>
                              </m:r>
                            </m:sub>
                          </m:sSub>
                          <m:d>
                            <m:dPr>
                              <m:ctrlPr>
                                <a:rPr lang="ar-AE" i="1"/>
                              </m:ctrlPr>
                            </m:dPr>
                            <m:e>
                              <m:r>
                                <a:rPr lang="ar-AE" i="1"/>
                                <m:t>𝑥</m:t>
                              </m:r>
                            </m:e>
                          </m:d>
                        </m:num>
                        <m:den>
                          <m:sSub>
                            <m:sSubPr>
                              <m:ctrlPr>
                                <a:rPr lang="ar-AE" i="1"/>
                              </m:ctrlPr>
                            </m:sSubPr>
                            <m:e>
                              <m:r>
                                <a:rPr lang="ar-AE" i="1"/>
                                <m:t>𝜋</m:t>
                              </m:r>
                            </m:e>
                            <m:sub>
                              <m:r>
                                <a:rPr lang="ar-AE"/>
                                <m:t>0</m:t>
                              </m:r>
                            </m:sub>
                          </m:sSub>
                          <m:sSub>
                            <m:sSubPr>
                              <m:ctrlPr>
                                <a:rPr lang="ar-AE" i="1"/>
                              </m:ctrlPr>
                            </m:sSubPr>
                            <m:e>
                              <m:r>
                                <a:rPr lang="ar-AE" i="1"/>
                                <m:t>𝑓</m:t>
                              </m:r>
                            </m:e>
                            <m:sub>
                              <m:r>
                                <a:rPr lang="ar-AE"/>
                                <m:t>0</m:t>
                              </m:r>
                            </m:sub>
                          </m:sSub>
                          <m:d>
                            <m:dPr>
                              <m:ctrlPr>
                                <a:rPr lang="ar-AE" i="1"/>
                              </m:ctrlPr>
                            </m:dPr>
                            <m:e>
                              <m:r>
                                <a:rPr lang="ar-AE" i="1"/>
                                <m:t>𝑥</m:t>
                              </m:r>
                            </m:e>
                          </m:d>
                          <m:r>
                            <a:rPr lang="ar-AE"/>
                            <m:t>+</m:t>
                          </m:r>
                          <m:sSub>
                            <m:sSubPr>
                              <m:ctrlPr>
                                <a:rPr lang="ar-AE" i="1"/>
                              </m:ctrlPr>
                            </m:sSubPr>
                            <m:e>
                              <m:r>
                                <a:rPr lang="ar-AE" i="1"/>
                                <m:t>𝜋</m:t>
                              </m:r>
                            </m:e>
                            <m:sub>
                              <m:r>
                                <a:rPr lang="ar-AE"/>
                                <m:t>1</m:t>
                              </m:r>
                            </m:sub>
                          </m:sSub>
                          <m:sSub>
                            <m:sSubPr>
                              <m:ctrlPr>
                                <a:rPr lang="ar-AE" i="1"/>
                              </m:ctrlPr>
                            </m:sSubPr>
                            <m:e>
                              <m:r>
                                <a:rPr lang="ar-AE" i="1"/>
                                <m:t>𝑓</m:t>
                              </m:r>
                            </m:e>
                            <m:sub>
                              <m:r>
                                <a:rPr lang="ar-AE"/>
                                <m:t>1</m:t>
                              </m:r>
                            </m:sub>
                          </m:sSub>
                          <m:d>
                            <m:dPr>
                              <m:ctrlPr>
                                <a:rPr lang="ar-AE" i="1"/>
                              </m:ctrlPr>
                            </m:dPr>
                            <m:e>
                              <m:r>
                                <a:rPr lang="ar-AE" i="1"/>
                                <m:t>𝑥</m:t>
                              </m:r>
                            </m:e>
                          </m:d>
                        </m:den>
                      </m:f>
                    </m:oMath>
                  </m:oMathPara>
                </a14:m>
                <a:endParaRPr lang="en-US" dirty="0"/>
              </a:p>
              <a:p>
                <a:endParaRPr lang="ar-AE" dirty="0"/>
              </a:p>
              <a:p>
                <a:r>
                  <a:rPr lang="en-US" dirty="0"/>
                  <a:t>Decision rule:</a:t>
                </a:r>
              </a:p>
              <a:p>
                <a14:m>
                  <m:oMathPara xmlns:m="http://schemas.openxmlformats.org/officeDocument/2006/math">
                    <m:oMathParaPr>
                      <m:jc m:val="centerGroup"/>
                    </m:oMathParaPr>
                    <m:oMath xmlns:m="http://schemas.openxmlformats.org/officeDocument/2006/math">
                      <m:r>
                        <m:rPr>
                          <m:nor/>
                        </m:rPr>
                        <a:rPr lang="en-US" b="0"/>
                        <m:t>Choose</m:t>
                      </m:r>
                      <m:r>
                        <m:rPr>
                          <m:nor/>
                        </m:rPr>
                        <a:rPr lang="en-US" b="0" i="1"/>
                        <m:t> </m:t>
                      </m:r>
                      <m:r>
                        <a:rPr lang="en-US"/>
                        <m:t>1</m:t>
                      </m:r>
                      <m:r>
                        <m:rPr>
                          <m:nor/>
                        </m:rPr>
                        <a:rPr lang="en-US" i="1"/>
                        <m:t> </m:t>
                      </m:r>
                      <m:r>
                        <m:rPr>
                          <m:nor/>
                        </m:rPr>
                        <a:rPr lang="en-US" b="0" i="1" smtClean="0"/>
                        <m:t> </m:t>
                      </m:r>
                      <m:r>
                        <m:rPr>
                          <m:nor/>
                        </m:rPr>
                        <a:rPr lang="en-US" i="1"/>
                        <m:t>if</m:t>
                      </m:r>
                      <m:r>
                        <m:rPr>
                          <m:nor/>
                        </m:rPr>
                        <a:rPr lang="en-US" i="1"/>
                        <m:t> </m:t>
                      </m:r>
                      <m:r>
                        <a:rPr lang="en-US" i="1"/>
                        <m:t>𝑃</m:t>
                      </m:r>
                      <m:d>
                        <m:dPr>
                          <m:ctrlPr>
                            <a:rPr lang="ar-AE" i="1"/>
                          </m:ctrlPr>
                        </m:dPr>
                        <m:e>
                          <m:r>
                            <a:rPr lang="ar-AE" i="1"/>
                            <m:t>𝑌</m:t>
                          </m:r>
                          <m:r>
                            <a:rPr lang="ar-AE"/>
                            <m:t>=</m:t>
                          </m:r>
                          <m:r>
                            <a:rPr lang="ar-AE"/>
                            <m:t>1</m:t>
                          </m:r>
                          <m:r>
                            <a:rPr lang="ar-AE"/>
                            <m:t>∣</m:t>
                          </m:r>
                          <m:r>
                            <a:rPr lang="ar-AE" i="1"/>
                            <m:t>𝑥</m:t>
                          </m:r>
                        </m:e>
                      </m:d>
                      <m:r>
                        <a:rPr lang="ar-AE"/>
                        <m:t>&gt;</m:t>
                      </m:r>
                      <m:r>
                        <a:rPr lang="ar-AE"/>
                        <m:t>0</m:t>
                      </m:r>
                      <m:r>
                        <a:rPr lang="ar-AE"/>
                        <m:t>.</m:t>
                      </m:r>
                      <m:r>
                        <a:rPr lang="ar-AE"/>
                        <m:t>5</m:t>
                      </m:r>
                    </m:oMath>
                  </m:oMathPara>
                </a14:m>
                <a:endParaRPr lang="en-US" b="0" dirty="0"/>
              </a:p>
              <a:p>
                <a:endParaRPr lang="ar-AE" b="0" dirty="0"/>
              </a:p>
              <a:p>
                <a:r>
                  <a:rPr lang="en-US" dirty="0"/>
                  <a:t>Equivalent:</a:t>
                </a:r>
              </a:p>
              <a:p>
                <a14:m>
                  <m:oMathPara xmlns:m="http://schemas.openxmlformats.org/officeDocument/2006/math">
                    <m:oMathParaPr>
                      <m:jc m:val="centerGroup"/>
                    </m:oMathParaPr>
                    <m:oMath xmlns:m="http://schemas.openxmlformats.org/officeDocument/2006/math">
                      <m:f>
                        <m:fPr>
                          <m:ctrlPr>
                            <a:rPr lang="ar-AE"/>
                          </m:ctrlPr>
                        </m:fPr>
                        <m:num>
                          <m:sSub>
                            <m:sSubPr>
                              <m:ctrlPr>
                                <a:rPr lang="ar-AE"/>
                              </m:ctrlPr>
                            </m:sSubPr>
                            <m:e>
                              <m:r>
                                <a:rPr lang="ar-AE" i="1"/>
                                <m:t>𝜋</m:t>
                              </m:r>
                            </m:e>
                            <m:sub>
                              <m:r>
                                <a:rPr lang="ar-AE"/>
                                <m:t>1</m:t>
                              </m:r>
                            </m:sub>
                          </m:sSub>
                          <m:sSub>
                            <m:sSubPr>
                              <m:ctrlPr>
                                <a:rPr lang="ar-AE" i="1"/>
                              </m:ctrlPr>
                            </m:sSubPr>
                            <m:e>
                              <m:r>
                                <a:rPr lang="ar-AE" i="1"/>
                                <m:t>𝑓</m:t>
                              </m:r>
                            </m:e>
                            <m:sub>
                              <m:r>
                                <a:rPr lang="ar-AE"/>
                                <m:t>1</m:t>
                              </m:r>
                            </m:sub>
                          </m:sSub>
                          <m:d>
                            <m:dPr>
                              <m:ctrlPr>
                                <a:rPr lang="ar-AE" i="1"/>
                              </m:ctrlPr>
                            </m:dPr>
                            <m:e>
                              <m:r>
                                <a:rPr lang="ar-AE" i="1"/>
                                <m:t>𝑥</m:t>
                              </m:r>
                            </m:e>
                          </m:d>
                        </m:num>
                        <m:den>
                          <m:sSub>
                            <m:sSubPr>
                              <m:ctrlPr>
                                <a:rPr lang="ar-AE" i="1"/>
                              </m:ctrlPr>
                            </m:sSubPr>
                            <m:e>
                              <m:r>
                                <a:rPr lang="ar-AE" i="1"/>
                                <m:t>𝜋</m:t>
                              </m:r>
                            </m:e>
                            <m:sub>
                              <m:r>
                                <a:rPr lang="ar-AE"/>
                                <m:t>0</m:t>
                              </m:r>
                            </m:sub>
                          </m:sSub>
                          <m:sSub>
                            <m:sSubPr>
                              <m:ctrlPr>
                                <a:rPr lang="ar-AE" i="1"/>
                              </m:ctrlPr>
                            </m:sSubPr>
                            <m:e>
                              <m:r>
                                <a:rPr lang="ar-AE" i="1"/>
                                <m:t>𝑓</m:t>
                              </m:r>
                            </m:e>
                            <m:sub>
                              <m:r>
                                <a:rPr lang="ar-AE"/>
                                <m:t>0</m:t>
                              </m:r>
                            </m:sub>
                          </m:sSub>
                          <m:d>
                            <m:dPr>
                              <m:ctrlPr>
                                <a:rPr lang="ar-AE" i="1"/>
                              </m:ctrlPr>
                            </m:dPr>
                            <m:e>
                              <m:r>
                                <a:rPr lang="ar-AE" i="1"/>
                                <m:t>𝑥</m:t>
                              </m:r>
                            </m:e>
                          </m:d>
                        </m:den>
                      </m:f>
                      <m:r>
                        <a:rPr lang="ar-AE"/>
                        <m:t>&gt;</m:t>
                      </m:r>
                      <m:r>
                        <a:rPr lang="ar-AE"/>
                        <m:t>1</m:t>
                      </m:r>
                    </m:oMath>
                  </m:oMathPara>
                </a14:m>
                <a:endParaRPr lang="ar-AE" dirty="0"/>
              </a:p>
              <a:p>
                <a:pPr>
                  <a:lnSpc>
                    <a:spcPct val="110000"/>
                  </a:lnSpc>
                  <a:spcAft>
                    <a:spcPts val="600"/>
                  </a:spcAft>
                </a:pPr>
                <a:r>
                  <a:rPr lang="en-US" dirty="0"/>
                  <a:t> </a:t>
                </a:r>
              </a:p>
            </p:txBody>
          </p:sp>
        </mc:Choice>
        <mc:Fallback>
          <p:sp>
            <p:nvSpPr>
              <p:cNvPr id="2" name="TextBox 1">
                <a:extLst>
                  <a:ext uri="{FF2B5EF4-FFF2-40B4-BE49-F238E27FC236}">
                    <a16:creationId xmlns:a16="http://schemas.microsoft.com/office/drawing/2014/main" id="{72DB82C2-C26C-A3BC-5D0F-CCBAE1ED4FD0}"/>
                  </a:ext>
                </a:extLst>
              </p:cNvPr>
              <p:cNvSpPr txBox="1">
                <a:spLocks noRot="1" noChangeAspect="1" noMove="1" noResize="1" noEditPoints="1" noAdjustHandles="1" noChangeArrowheads="1" noChangeShapeType="1" noTextEdit="1"/>
              </p:cNvSpPr>
              <p:nvPr/>
            </p:nvSpPr>
            <p:spPr>
              <a:xfrm>
                <a:off x="589391" y="1472375"/>
                <a:ext cx="9659132" cy="3767328"/>
              </a:xfrm>
              <a:prstGeom prst="rect">
                <a:avLst/>
              </a:prstGeom>
              <a:blipFill>
                <a:blip r:embed="rId2"/>
                <a:stretch>
                  <a:fillRect l="-442" t="-1294"/>
                </a:stretch>
              </a:blipFill>
            </p:spPr>
            <p:txBody>
              <a:bodyPr/>
              <a:lstStyle/>
              <a:p>
                <a:r>
                  <a:rPr lang="en-US">
                    <a:noFill/>
                  </a:rPr>
                  <a:t> </a:t>
                </a:r>
              </a:p>
            </p:txBody>
          </p:sp>
        </mc:Fallback>
      </mc:AlternateContent>
      <p:pic>
        <p:nvPicPr>
          <p:cNvPr id="3" name="Picture 2" descr="A blue text on a black background&#10;&#10;AI-generated content may be incorrect.">
            <a:extLst>
              <a:ext uri="{FF2B5EF4-FFF2-40B4-BE49-F238E27FC236}">
                <a16:creationId xmlns:a16="http://schemas.microsoft.com/office/drawing/2014/main" id="{59F92039-A79A-4087-D38C-EA2B3831A097}"/>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3808346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6FE3C1-28AC-CFE9-C94F-A462C2A810CE}"/>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A574926B-2216-E848-25D6-80D8DCD38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3E5B7C28-8488-4E84-1B15-4F6030FF60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356F0BDF-FB72-421B-23F3-047B83B91E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C383280A-7BAC-6329-4B1A-D58A27FE5B28}"/>
                  </a:ext>
                </a:extLst>
              </p:cNvPr>
              <p:cNvSpPr txBox="1"/>
              <p:nvPr/>
            </p:nvSpPr>
            <p:spPr>
              <a:xfrm>
                <a:off x="589391" y="1472375"/>
                <a:ext cx="9659132" cy="3767328"/>
              </a:xfrm>
              <a:prstGeom prst="rect">
                <a:avLst/>
              </a:prstGeom>
            </p:spPr>
            <p:txBody>
              <a:bodyPr vert="horz" lIns="91440" tIns="45720" rIns="91440" bIns="45720" rtlCol="0">
                <a:normAutofit/>
              </a:bodyPr>
              <a:lstStyle/>
              <a:p>
                <a:pPr algn="ctr"/>
                <a:r>
                  <a:rPr lang="en-US" b="1" dirty="0"/>
                  <a:t>Neyman–Pearson Lemma</a:t>
                </a:r>
              </a:p>
              <a:p>
                <a:endParaRPr lang="en-US" b="1" dirty="0"/>
              </a:p>
              <a:p>
                <a:r>
                  <a:rPr lang="en-US" dirty="0"/>
                  <a:t>Test:</a:t>
                </a:r>
              </a:p>
              <a:p>
                <a14:m>
                  <m:oMathPara xmlns:m="http://schemas.openxmlformats.org/officeDocument/2006/math">
                    <m:oMathParaPr>
                      <m:jc m:val="centerGroup"/>
                    </m:oMathParaPr>
                    <m:oMath xmlns:m="http://schemas.openxmlformats.org/officeDocument/2006/math">
                      <m:sSub>
                        <m:sSubPr>
                          <m:ctrlPr>
                            <a:rPr lang="ar-AE"/>
                          </m:ctrlPr>
                        </m:sSubPr>
                        <m:e>
                          <m:r>
                            <a:rPr lang="ar-AE" i="1"/>
                            <m:t>𝐻</m:t>
                          </m:r>
                        </m:e>
                        <m:sub>
                          <m:r>
                            <a:rPr lang="ar-AE"/>
                            <m:t>0</m:t>
                          </m:r>
                        </m:sub>
                      </m:sSub>
                      <m:r>
                        <a:rPr lang="ar-AE"/>
                        <m:t>:</m:t>
                      </m:r>
                      <m:sSub>
                        <m:sSubPr>
                          <m:ctrlPr>
                            <a:rPr lang="ar-AE" i="1"/>
                          </m:ctrlPr>
                        </m:sSubPr>
                        <m:e>
                          <m:r>
                            <a:rPr lang="ar-AE" i="1"/>
                            <m:t>𝑓</m:t>
                          </m:r>
                        </m:e>
                        <m:sub>
                          <m:r>
                            <a:rPr lang="ar-AE"/>
                            <m:t>0</m:t>
                          </m:r>
                        </m:sub>
                      </m:sSub>
                      <m:d>
                        <m:dPr>
                          <m:ctrlPr>
                            <a:rPr lang="ar-AE" i="1"/>
                          </m:ctrlPr>
                        </m:dPr>
                        <m:e>
                          <m:r>
                            <a:rPr lang="ar-AE" i="1"/>
                            <m:t>𝑥</m:t>
                          </m:r>
                        </m:e>
                      </m:d>
                      <m:r>
                        <a:rPr lang="ar-AE"/>
                        <m:t> </m:t>
                      </m:r>
                      <m:r>
                        <a:rPr lang="ar-AE" i="1"/>
                        <m:t>𝑣𝑠</m:t>
                      </m:r>
                      <m:r>
                        <a:rPr lang="ar-AE"/>
                        <m:t> </m:t>
                      </m:r>
                      <m:sSub>
                        <m:sSubPr>
                          <m:ctrlPr>
                            <a:rPr lang="ar-AE" i="1"/>
                          </m:ctrlPr>
                        </m:sSubPr>
                        <m:e>
                          <m:r>
                            <a:rPr lang="ar-AE" i="1"/>
                            <m:t>𝐻</m:t>
                          </m:r>
                        </m:e>
                        <m:sub>
                          <m:r>
                            <a:rPr lang="ar-AE"/>
                            <m:t>1</m:t>
                          </m:r>
                        </m:sub>
                      </m:sSub>
                      <m:r>
                        <a:rPr lang="ar-AE"/>
                        <m:t>:</m:t>
                      </m:r>
                      <m:sSub>
                        <m:sSubPr>
                          <m:ctrlPr>
                            <a:rPr lang="ar-AE" i="1"/>
                          </m:ctrlPr>
                        </m:sSubPr>
                        <m:e>
                          <m:r>
                            <a:rPr lang="ar-AE" i="1"/>
                            <m:t>𝑓</m:t>
                          </m:r>
                        </m:e>
                        <m:sub>
                          <m:r>
                            <a:rPr lang="ar-AE"/>
                            <m:t>1</m:t>
                          </m:r>
                        </m:sub>
                      </m:sSub>
                      <m:d>
                        <m:dPr>
                          <m:ctrlPr>
                            <a:rPr lang="ar-AE" i="1"/>
                          </m:ctrlPr>
                        </m:dPr>
                        <m:e>
                          <m:r>
                            <a:rPr lang="ar-AE" i="1"/>
                            <m:t>𝑥</m:t>
                          </m:r>
                        </m:e>
                      </m:d>
                    </m:oMath>
                  </m:oMathPara>
                </a14:m>
                <a:endParaRPr lang="en-US" dirty="0"/>
              </a:p>
              <a:p>
                <a:endParaRPr lang="ar-AE" dirty="0"/>
              </a:p>
              <a:p>
                <a:r>
                  <a:rPr lang="en-US" dirty="0"/>
                  <a:t>Optimal test:</a:t>
                </a:r>
              </a:p>
              <a:p>
                <a14:m>
                  <m:oMathPara xmlns:m="http://schemas.openxmlformats.org/officeDocument/2006/math">
                    <m:oMathParaPr>
                      <m:jc m:val="centerGroup"/>
                    </m:oMathParaPr>
                    <m:oMath xmlns:m="http://schemas.openxmlformats.org/officeDocument/2006/math">
                      <m:r>
                        <m:rPr>
                          <m:sty m:val="p"/>
                        </m:rPr>
                        <a:rPr lang="el-GR"/>
                        <m:t>Λ</m:t>
                      </m:r>
                      <m:d>
                        <m:dPr>
                          <m:ctrlPr>
                            <a:rPr lang="ar-AE" i="1"/>
                          </m:ctrlPr>
                        </m:dPr>
                        <m:e>
                          <m:r>
                            <a:rPr lang="ar-AE" i="1"/>
                            <m:t>𝑥</m:t>
                          </m:r>
                        </m:e>
                      </m:d>
                      <m:r>
                        <a:rPr lang="ar-AE"/>
                        <m:t>=</m:t>
                      </m:r>
                      <m:f>
                        <m:fPr>
                          <m:ctrlPr>
                            <a:rPr lang="ar-AE" i="1"/>
                          </m:ctrlPr>
                        </m:fPr>
                        <m:num>
                          <m:sSub>
                            <m:sSubPr>
                              <m:ctrlPr>
                                <a:rPr lang="ar-AE" i="1"/>
                              </m:ctrlPr>
                            </m:sSubPr>
                            <m:e>
                              <m:r>
                                <a:rPr lang="ar-AE" i="1"/>
                                <m:t>𝑓</m:t>
                              </m:r>
                            </m:e>
                            <m:sub>
                              <m:r>
                                <a:rPr lang="ar-AE"/>
                                <m:t>1</m:t>
                              </m:r>
                            </m:sub>
                          </m:sSub>
                          <m:d>
                            <m:dPr>
                              <m:ctrlPr>
                                <a:rPr lang="ar-AE" i="1"/>
                              </m:ctrlPr>
                            </m:dPr>
                            <m:e>
                              <m:r>
                                <a:rPr lang="ar-AE" i="1"/>
                                <m:t>𝑥</m:t>
                              </m:r>
                            </m:e>
                          </m:d>
                        </m:num>
                        <m:den>
                          <m:sSub>
                            <m:sSubPr>
                              <m:ctrlPr>
                                <a:rPr lang="ar-AE" i="1"/>
                              </m:ctrlPr>
                            </m:sSubPr>
                            <m:e>
                              <m:r>
                                <a:rPr lang="ar-AE" i="1"/>
                                <m:t>𝑓</m:t>
                              </m:r>
                            </m:e>
                            <m:sub>
                              <m:r>
                                <a:rPr lang="ar-AE"/>
                                <m:t>0</m:t>
                              </m:r>
                            </m:sub>
                          </m:sSub>
                          <m:d>
                            <m:dPr>
                              <m:ctrlPr>
                                <a:rPr lang="ar-AE" i="1"/>
                              </m:ctrlPr>
                            </m:dPr>
                            <m:e>
                              <m:r>
                                <a:rPr lang="ar-AE" i="1"/>
                                <m:t>𝑥</m:t>
                              </m:r>
                            </m:e>
                          </m:d>
                        </m:den>
                      </m:f>
                      <m:r>
                        <a:rPr lang="ar-AE"/>
                        <m:t>&gt;</m:t>
                      </m:r>
                      <m:r>
                        <a:rPr lang="ar-AE" i="1"/>
                        <m:t>𝑐</m:t>
                      </m:r>
                    </m:oMath>
                  </m:oMathPara>
                </a14:m>
                <a:endParaRPr lang="en-US" dirty="0"/>
              </a:p>
              <a:p>
                <a:endParaRPr lang="en-US" dirty="0"/>
              </a:p>
              <a:p>
                <a:endParaRPr lang="ar-AE" dirty="0"/>
              </a:p>
              <a:p>
                <a:r>
                  <a:rPr lang="en-US" dirty="0"/>
                  <a:t>Most powerful test for fixed Type I error</a:t>
                </a:r>
              </a:p>
              <a:p>
                <a:pPr algn="ctr"/>
                <a:endParaRPr lang="en-US" dirty="0"/>
              </a:p>
            </p:txBody>
          </p:sp>
        </mc:Choice>
        <mc:Fallback>
          <p:sp>
            <p:nvSpPr>
              <p:cNvPr id="2" name="TextBox 1">
                <a:extLst>
                  <a:ext uri="{FF2B5EF4-FFF2-40B4-BE49-F238E27FC236}">
                    <a16:creationId xmlns:a16="http://schemas.microsoft.com/office/drawing/2014/main" id="{C383280A-7BAC-6329-4B1A-D58A27FE5B28}"/>
                  </a:ext>
                </a:extLst>
              </p:cNvPr>
              <p:cNvSpPr txBox="1">
                <a:spLocks noRot="1" noChangeAspect="1" noMove="1" noResize="1" noEditPoints="1" noAdjustHandles="1" noChangeArrowheads="1" noChangeShapeType="1" noTextEdit="1"/>
              </p:cNvSpPr>
              <p:nvPr/>
            </p:nvSpPr>
            <p:spPr>
              <a:xfrm>
                <a:off x="589391" y="1472375"/>
                <a:ext cx="9659132" cy="3767328"/>
              </a:xfrm>
              <a:prstGeom prst="rect">
                <a:avLst/>
              </a:prstGeom>
              <a:blipFill>
                <a:blip r:embed="rId2"/>
                <a:stretch>
                  <a:fillRect l="-568" t="-971"/>
                </a:stretch>
              </a:blipFill>
            </p:spPr>
            <p:txBody>
              <a:bodyPr/>
              <a:lstStyle/>
              <a:p>
                <a:r>
                  <a:rPr lang="en-US">
                    <a:noFill/>
                  </a:rPr>
                  <a:t> </a:t>
                </a:r>
              </a:p>
            </p:txBody>
          </p:sp>
        </mc:Fallback>
      </mc:AlternateContent>
      <p:pic>
        <p:nvPicPr>
          <p:cNvPr id="3" name="Picture 2" descr="A blue text on a black background&#10;&#10;AI-generated content may be incorrect.">
            <a:extLst>
              <a:ext uri="{FF2B5EF4-FFF2-40B4-BE49-F238E27FC236}">
                <a16:creationId xmlns:a16="http://schemas.microsoft.com/office/drawing/2014/main" id="{707492C7-C0DD-F381-968A-161A114D03D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3268121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18C4F7-6901-834A-4F3D-4A65CFA41B3D}"/>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771EF127-DAC0-A8BE-87A0-6F89CD4EF1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0AAC6E80-F626-6EFE-077A-5B84AFDF5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A024A58-6C21-6B95-3F0E-B7883E5076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D75CFD37-C5D9-79E2-F128-1AE93B618297}"/>
                  </a:ext>
                </a:extLst>
              </p:cNvPr>
              <p:cNvSpPr txBox="1"/>
              <p:nvPr/>
            </p:nvSpPr>
            <p:spPr>
              <a:xfrm>
                <a:off x="589391" y="1472375"/>
                <a:ext cx="9659132" cy="3767328"/>
              </a:xfrm>
              <a:prstGeom prst="rect">
                <a:avLst/>
              </a:prstGeom>
            </p:spPr>
            <p:txBody>
              <a:bodyPr vert="horz" lIns="91440" tIns="45720" rIns="91440" bIns="45720" rtlCol="0">
                <a:normAutofit/>
              </a:bodyPr>
              <a:lstStyle/>
              <a:p>
                <a:pPr algn="ctr"/>
                <a:r>
                  <a:rPr lang="en-US" b="1" dirty="0"/>
                  <a:t>Bayesian vs Neyman–Pearson</a:t>
                </a:r>
              </a:p>
              <a:p>
                <a:pPr algn="ctr"/>
                <a:endParaRPr lang="en-US" b="1" dirty="0"/>
              </a:p>
              <a:p>
                <a:pPr algn="ctr"/>
                <a:endParaRPr lang="en-US" b="1" dirty="0"/>
              </a:p>
              <a:p>
                <a:r>
                  <a:rPr lang="en-US" dirty="0"/>
                  <a:t>Bayesian rule:</a:t>
                </a:r>
              </a:p>
              <a:p>
                <a14:m>
                  <m:oMathPara xmlns:m="http://schemas.openxmlformats.org/officeDocument/2006/math">
                    <m:oMathParaPr>
                      <m:jc m:val="centerGroup"/>
                    </m:oMathParaPr>
                    <m:oMath xmlns:m="http://schemas.openxmlformats.org/officeDocument/2006/math">
                      <m:f>
                        <m:fPr>
                          <m:ctrlPr>
                            <a:rPr lang="ar-AE"/>
                          </m:ctrlPr>
                        </m:fPr>
                        <m:num>
                          <m:sSub>
                            <m:sSubPr>
                              <m:ctrlPr>
                                <a:rPr lang="ar-AE"/>
                              </m:ctrlPr>
                            </m:sSubPr>
                            <m:e>
                              <m:r>
                                <a:rPr lang="ar-AE" i="1"/>
                                <m:t>𝜋</m:t>
                              </m:r>
                            </m:e>
                            <m:sub>
                              <m:r>
                                <a:rPr lang="ar-AE"/>
                                <m:t>1</m:t>
                              </m:r>
                            </m:sub>
                          </m:sSub>
                          <m:sSub>
                            <m:sSubPr>
                              <m:ctrlPr>
                                <a:rPr lang="ar-AE" i="1"/>
                              </m:ctrlPr>
                            </m:sSubPr>
                            <m:e>
                              <m:r>
                                <a:rPr lang="ar-AE" i="1"/>
                                <m:t>𝑓</m:t>
                              </m:r>
                            </m:e>
                            <m:sub>
                              <m:r>
                                <a:rPr lang="ar-AE"/>
                                <m:t>1</m:t>
                              </m:r>
                            </m:sub>
                          </m:sSub>
                          <m:d>
                            <m:dPr>
                              <m:ctrlPr>
                                <a:rPr lang="ar-AE" i="1"/>
                              </m:ctrlPr>
                            </m:dPr>
                            <m:e>
                              <m:r>
                                <a:rPr lang="ar-AE" i="1"/>
                                <m:t>𝑥</m:t>
                              </m:r>
                            </m:e>
                          </m:d>
                        </m:num>
                        <m:den>
                          <m:sSub>
                            <m:sSubPr>
                              <m:ctrlPr>
                                <a:rPr lang="ar-AE" i="1"/>
                              </m:ctrlPr>
                            </m:sSubPr>
                            <m:e>
                              <m:r>
                                <a:rPr lang="ar-AE" i="1"/>
                                <m:t>𝜋</m:t>
                              </m:r>
                            </m:e>
                            <m:sub>
                              <m:r>
                                <a:rPr lang="ar-AE"/>
                                <m:t>0</m:t>
                              </m:r>
                            </m:sub>
                          </m:sSub>
                          <m:sSub>
                            <m:sSubPr>
                              <m:ctrlPr>
                                <a:rPr lang="ar-AE" i="1"/>
                              </m:ctrlPr>
                            </m:sSubPr>
                            <m:e>
                              <m:r>
                                <a:rPr lang="ar-AE" i="1"/>
                                <m:t>𝑓</m:t>
                              </m:r>
                            </m:e>
                            <m:sub>
                              <m:r>
                                <a:rPr lang="ar-AE"/>
                                <m:t>0</m:t>
                              </m:r>
                            </m:sub>
                          </m:sSub>
                          <m:d>
                            <m:dPr>
                              <m:ctrlPr>
                                <a:rPr lang="ar-AE" i="1"/>
                              </m:ctrlPr>
                            </m:dPr>
                            <m:e>
                              <m:r>
                                <a:rPr lang="ar-AE" i="1"/>
                                <m:t>𝑥</m:t>
                              </m:r>
                            </m:e>
                          </m:d>
                        </m:den>
                      </m:f>
                      <m:r>
                        <a:rPr lang="ar-AE"/>
                        <m:t>&gt;</m:t>
                      </m:r>
                      <m:r>
                        <a:rPr lang="ar-AE"/>
                        <m:t>1</m:t>
                      </m:r>
                    </m:oMath>
                  </m:oMathPara>
                </a14:m>
                <a:endParaRPr lang="en-US" dirty="0"/>
              </a:p>
              <a:p>
                <a:endParaRPr lang="ar-AE" dirty="0"/>
              </a:p>
              <a:p>
                <a:r>
                  <a:rPr lang="en-US" dirty="0"/>
                  <a:t>Rewrite:</a:t>
                </a:r>
              </a:p>
              <a:p>
                <a14:m>
                  <m:oMathPara xmlns:m="http://schemas.openxmlformats.org/officeDocument/2006/math">
                    <m:oMathParaPr>
                      <m:jc m:val="centerGroup"/>
                    </m:oMathParaPr>
                    <m:oMath xmlns:m="http://schemas.openxmlformats.org/officeDocument/2006/math">
                      <m:f>
                        <m:fPr>
                          <m:ctrlPr>
                            <a:rPr lang="ar-AE"/>
                          </m:ctrlPr>
                        </m:fPr>
                        <m:num>
                          <m:sSub>
                            <m:sSubPr>
                              <m:ctrlPr>
                                <a:rPr lang="ar-AE"/>
                              </m:ctrlPr>
                            </m:sSubPr>
                            <m:e>
                              <m:r>
                                <a:rPr lang="ar-AE" i="1"/>
                                <m:t>𝑓</m:t>
                              </m:r>
                            </m:e>
                            <m:sub>
                              <m:r>
                                <a:rPr lang="ar-AE"/>
                                <m:t>1</m:t>
                              </m:r>
                            </m:sub>
                          </m:sSub>
                          <m:d>
                            <m:dPr>
                              <m:ctrlPr>
                                <a:rPr lang="ar-AE" i="1"/>
                              </m:ctrlPr>
                            </m:dPr>
                            <m:e>
                              <m:r>
                                <a:rPr lang="ar-AE" i="1"/>
                                <m:t>𝑥</m:t>
                              </m:r>
                            </m:e>
                          </m:d>
                        </m:num>
                        <m:den>
                          <m:sSub>
                            <m:sSubPr>
                              <m:ctrlPr>
                                <a:rPr lang="ar-AE" i="1"/>
                              </m:ctrlPr>
                            </m:sSubPr>
                            <m:e>
                              <m:r>
                                <a:rPr lang="ar-AE" i="1"/>
                                <m:t>𝑓</m:t>
                              </m:r>
                            </m:e>
                            <m:sub>
                              <m:r>
                                <a:rPr lang="ar-AE"/>
                                <m:t>0</m:t>
                              </m:r>
                            </m:sub>
                          </m:sSub>
                          <m:d>
                            <m:dPr>
                              <m:ctrlPr>
                                <a:rPr lang="ar-AE" i="1"/>
                              </m:ctrlPr>
                            </m:dPr>
                            <m:e>
                              <m:r>
                                <a:rPr lang="ar-AE" i="1"/>
                                <m:t>𝑥</m:t>
                              </m:r>
                            </m:e>
                          </m:d>
                        </m:den>
                      </m:f>
                      <m:r>
                        <a:rPr lang="ar-AE"/>
                        <m:t>&gt;</m:t>
                      </m:r>
                      <m:f>
                        <m:fPr>
                          <m:ctrlPr>
                            <a:rPr lang="ar-AE" i="1"/>
                          </m:ctrlPr>
                        </m:fPr>
                        <m:num>
                          <m:sSub>
                            <m:sSubPr>
                              <m:ctrlPr>
                                <a:rPr lang="ar-AE" i="1"/>
                              </m:ctrlPr>
                            </m:sSubPr>
                            <m:e>
                              <m:r>
                                <a:rPr lang="ar-AE" i="1"/>
                                <m:t>𝜋</m:t>
                              </m:r>
                            </m:e>
                            <m:sub>
                              <m:r>
                                <a:rPr lang="ar-AE"/>
                                <m:t>0</m:t>
                              </m:r>
                            </m:sub>
                          </m:sSub>
                        </m:num>
                        <m:den>
                          <m:sSub>
                            <m:sSubPr>
                              <m:ctrlPr>
                                <a:rPr lang="ar-AE" i="1"/>
                              </m:ctrlPr>
                            </m:sSubPr>
                            <m:e>
                              <m:r>
                                <a:rPr lang="ar-AE" i="1"/>
                                <m:t>𝜋</m:t>
                              </m:r>
                            </m:e>
                            <m:sub>
                              <m:r>
                                <a:rPr lang="ar-AE"/>
                                <m:t>1</m:t>
                              </m:r>
                            </m:sub>
                          </m:sSub>
                        </m:den>
                      </m:f>
                    </m:oMath>
                  </m:oMathPara>
                </a14:m>
                <a:endParaRPr lang="en-US" dirty="0"/>
              </a:p>
              <a:p>
                <a:endParaRPr lang="en-US" dirty="0"/>
              </a:p>
              <a:p>
                <a:r>
                  <a:rPr lang="en-US" dirty="0"/>
                  <a:t>Same form as Neyman–Pearson!</a:t>
                </a:r>
              </a:p>
              <a:p>
                <a:pPr algn="ctr"/>
                <a:endParaRPr lang="en-US" dirty="0"/>
              </a:p>
            </p:txBody>
          </p:sp>
        </mc:Choice>
        <mc:Fallback>
          <p:sp>
            <p:nvSpPr>
              <p:cNvPr id="2" name="TextBox 1">
                <a:extLst>
                  <a:ext uri="{FF2B5EF4-FFF2-40B4-BE49-F238E27FC236}">
                    <a16:creationId xmlns:a16="http://schemas.microsoft.com/office/drawing/2014/main" id="{D75CFD37-C5D9-79E2-F128-1AE93B618297}"/>
                  </a:ext>
                </a:extLst>
              </p:cNvPr>
              <p:cNvSpPr txBox="1">
                <a:spLocks noRot="1" noChangeAspect="1" noMove="1" noResize="1" noEditPoints="1" noAdjustHandles="1" noChangeArrowheads="1" noChangeShapeType="1" noTextEdit="1"/>
              </p:cNvSpPr>
              <p:nvPr/>
            </p:nvSpPr>
            <p:spPr>
              <a:xfrm>
                <a:off x="589391" y="1472375"/>
                <a:ext cx="9659132" cy="3767328"/>
              </a:xfrm>
              <a:prstGeom prst="rect">
                <a:avLst/>
              </a:prstGeom>
              <a:blipFill>
                <a:blip r:embed="rId2"/>
                <a:stretch>
                  <a:fillRect l="-568" t="-971"/>
                </a:stretch>
              </a:blipFill>
            </p:spPr>
            <p:txBody>
              <a:bodyPr/>
              <a:lstStyle/>
              <a:p>
                <a:r>
                  <a:rPr lang="en-US">
                    <a:noFill/>
                  </a:rPr>
                  <a:t> </a:t>
                </a:r>
              </a:p>
            </p:txBody>
          </p:sp>
        </mc:Fallback>
      </mc:AlternateContent>
      <p:pic>
        <p:nvPicPr>
          <p:cNvPr id="3" name="Picture 2" descr="A blue text on a black background&#10;&#10;AI-generated content may be incorrect.">
            <a:extLst>
              <a:ext uri="{FF2B5EF4-FFF2-40B4-BE49-F238E27FC236}">
                <a16:creationId xmlns:a16="http://schemas.microsoft.com/office/drawing/2014/main" id="{DCD653E1-819A-1E58-6F74-84E73060C0C5}"/>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2393992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09C995-74AC-2D81-F66E-D981F9F79507}"/>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A638ACAF-FB23-ED9D-7BC8-B27CD5B3E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A6E3EC43-89C6-0A65-2BA4-407B665B41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BA37B71-DFAE-0D72-D004-8BF51E27F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DB1C7B6D-616E-D029-58BE-C000963D8C06}"/>
                  </a:ext>
                </a:extLst>
              </p:cNvPr>
              <p:cNvSpPr txBox="1"/>
              <p:nvPr/>
            </p:nvSpPr>
            <p:spPr>
              <a:xfrm>
                <a:off x="589391" y="1472375"/>
                <a:ext cx="9659132" cy="3767328"/>
              </a:xfrm>
              <a:prstGeom prst="rect">
                <a:avLst/>
              </a:prstGeom>
            </p:spPr>
            <p:txBody>
              <a:bodyPr vert="horz" lIns="91440" tIns="45720" rIns="91440" bIns="45720" rtlCol="0">
                <a:normAutofit/>
              </a:bodyPr>
              <a:lstStyle/>
              <a:p>
                <a:pPr algn="ctr"/>
                <a:r>
                  <a:rPr lang="en-US" b="1" dirty="0"/>
                  <a:t>Key Connection</a:t>
                </a:r>
              </a:p>
              <a:p>
                <a:pPr algn="ctr"/>
                <a:endParaRPr lang="en-US" b="1" dirty="0"/>
              </a:p>
              <a:p>
                <a:pPr algn="ctr"/>
                <a:endParaRPr lang="en-US" b="1" dirty="0"/>
              </a:p>
              <a:p>
                <a:pPr algn="ctr"/>
                <a:endParaRPr lang="en-US" b="1" dirty="0"/>
              </a:p>
              <a:p>
                <a14:m>
                  <m:oMathPara xmlns:m="http://schemas.openxmlformats.org/officeDocument/2006/math">
                    <m:oMathParaPr>
                      <m:jc m:val="centerGroup"/>
                    </m:oMathParaPr>
                    <m:oMath xmlns:m="http://schemas.openxmlformats.org/officeDocument/2006/math">
                      <m:borderBox>
                        <m:borderBoxPr>
                          <m:ctrlPr>
                            <a:rPr lang="ar-AE"/>
                          </m:ctrlPr>
                        </m:borderBoxPr>
                        <m:e>
                          <m:r>
                            <m:rPr>
                              <m:nor/>
                            </m:rPr>
                            <a:rPr lang="en-US" b="0"/>
                            <m:t>Bayesian</m:t>
                          </m:r>
                          <m:r>
                            <m:rPr>
                              <m:nor/>
                            </m:rPr>
                            <a:rPr lang="en-US" b="0" i="1"/>
                            <m:t> </m:t>
                          </m:r>
                          <m:r>
                            <m:rPr>
                              <m:nor/>
                            </m:rPr>
                            <a:rPr lang="en-US" b="0" i="1"/>
                            <m:t>classification</m:t>
                          </m:r>
                          <m:r>
                            <m:rPr>
                              <m:nor/>
                            </m:rPr>
                            <a:rPr lang="en-US" b="0" i="1"/>
                            <m:t> = </m:t>
                          </m:r>
                          <m:r>
                            <m:rPr>
                              <m:nor/>
                            </m:rPr>
                            <a:rPr lang="en-US" b="0" i="1"/>
                            <m:t>Likelihood</m:t>
                          </m:r>
                          <m:r>
                            <m:rPr>
                              <m:nor/>
                            </m:rPr>
                            <a:rPr lang="en-US" b="0" i="1"/>
                            <m:t> </m:t>
                          </m:r>
                          <m:r>
                            <m:rPr>
                              <m:nor/>
                            </m:rPr>
                            <a:rPr lang="en-US" b="0" i="1"/>
                            <m:t>ratio</m:t>
                          </m:r>
                          <m:r>
                            <m:rPr>
                              <m:nor/>
                            </m:rPr>
                            <a:rPr lang="en-US" b="0" i="1"/>
                            <m:t> </m:t>
                          </m:r>
                          <m:r>
                            <m:rPr>
                              <m:nor/>
                            </m:rPr>
                            <a:rPr lang="en-US" b="0" i="1"/>
                            <m:t>test</m:t>
                          </m:r>
                        </m:e>
                      </m:borderBox>
                    </m:oMath>
                  </m:oMathPara>
                </a14:m>
                <a:endParaRPr lang="en-US" b="0" dirty="0"/>
              </a:p>
              <a:p>
                <a:endParaRPr lang="en-US" dirty="0"/>
              </a:p>
              <a:p>
                <a:endParaRPr lang="ar-AE" b="0" dirty="0"/>
              </a:p>
              <a:p>
                <a:r>
                  <a:rPr lang="en-US" dirty="0"/>
                  <a:t>Difference:</a:t>
                </a:r>
              </a:p>
              <a:p>
                <a:r>
                  <a:rPr lang="en-US" dirty="0"/>
                  <a:t>Bayesian: threshold depends on priors </a:t>
                </a:r>
              </a:p>
              <a:p>
                <a:r>
                  <a:rPr lang="en-US" dirty="0"/>
                  <a:t>Frequentist: threshold depends on Type I error </a:t>
                </a:r>
              </a:p>
              <a:p>
                <a:pPr algn="ctr"/>
                <a:endParaRPr lang="en-US" dirty="0"/>
              </a:p>
            </p:txBody>
          </p:sp>
        </mc:Choice>
        <mc:Fallback>
          <p:sp>
            <p:nvSpPr>
              <p:cNvPr id="2" name="TextBox 1">
                <a:extLst>
                  <a:ext uri="{FF2B5EF4-FFF2-40B4-BE49-F238E27FC236}">
                    <a16:creationId xmlns:a16="http://schemas.microsoft.com/office/drawing/2014/main" id="{DB1C7B6D-616E-D029-58BE-C000963D8C06}"/>
                  </a:ext>
                </a:extLst>
              </p:cNvPr>
              <p:cNvSpPr txBox="1">
                <a:spLocks noRot="1" noChangeAspect="1" noMove="1" noResize="1" noEditPoints="1" noAdjustHandles="1" noChangeArrowheads="1" noChangeShapeType="1" noTextEdit="1"/>
              </p:cNvSpPr>
              <p:nvPr/>
            </p:nvSpPr>
            <p:spPr>
              <a:xfrm>
                <a:off x="589391" y="1472375"/>
                <a:ext cx="9659132" cy="3767328"/>
              </a:xfrm>
              <a:prstGeom prst="rect">
                <a:avLst/>
              </a:prstGeom>
              <a:blipFill>
                <a:blip r:embed="rId2"/>
                <a:stretch>
                  <a:fillRect l="-568" t="-971"/>
                </a:stretch>
              </a:blipFill>
            </p:spPr>
            <p:txBody>
              <a:bodyPr/>
              <a:lstStyle/>
              <a:p>
                <a:r>
                  <a:rPr lang="en-US">
                    <a:noFill/>
                  </a:rPr>
                  <a:t> </a:t>
                </a:r>
              </a:p>
            </p:txBody>
          </p:sp>
        </mc:Fallback>
      </mc:AlternateContent>
      <p:pic>
        <p:nvPicPr>
          <p:cNvPr id="3" name="Picture 2" descr="A blue text on a black background&#10;&#10;AI-generated content may be incorrect.">
            <a:extLst>
              <a:ext uri="{FF2B5EF4-FFF2-40B4-BE49-F238E27FC236}">
                <a16:creationId xmlns:a16="http://schemas.microsoft.com/office/drawing/2014/main" id="{E6DD9DB9-793D-CB13-4B74-7818A5DB7B6B}"/>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768220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C9ED79-8B9B-EE3F-4E5C-291E37FA232C}"/>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FAA9DC31-8A95-E10A-1434-4B5C337D21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903DA5A0-496B-8506-11D7-C65D563E03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32C26B9-782D-8F75-A0D5-0BE4D8968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CA61D1E8-2B7E-849E-C099-587C4D8BEE76}"/>
                  </a:ext>
                </a:extLst>
              </p:cNvPr>
              <p:cNvSpPr txBox="1"/>
              <p:nvPr/>
            </p:nvSpPr>
            <p:spPr>
              <a:xfrm>
                <a:off x="589391" y="1472375"/>
                <a:ext cx="9659132" cy="3767328"/>
              </a:xfrm>
              <a:prstGeom prst="rect">
                <a:avLst/>
              </a:prstGeom>
            </p:spPr>
            <p:txBody>
              <a:bodyPr vert="horz" lIns="91440" tIns="45720" rIns="91440" bIns="45720" rtlCol="0">
                <a:normAutofit/>
              </a:bodyPr>
              <a:lstStyle/>
              <a:p>
                <a:pPr algn="ctr"/>
                <a:r>
                  <a:rPr lang="en-US" b="1" dirty="0"/>
                  <a:t>Linear Discriminant Analysis (LDA)</a:t>
                </a:r>
              </a:p>
              <a:p>
                <a:pPr algn="ctr"/>
                <a:endParaRPr lang="en-US" b="1" dirty="0"/>
              </a:p>
              <a:p>
                <a:r>
                  <a:rPr lang="en-US" dirty="0"/>
                  <a:t>Assume:</a:t>
                </a:r>
              </a:p>
              <a:p>
                <a14:m>
                  <m:oMathPara xmlns:m="http://schemas.openxmlformats.org/officeDocument/2006/math">
                    <m:oMathParaPr>
                      <m:jc m:val="centerGroup"/>
                    </m:oMathParaPr>
                    <m:oMath xmlns:m="http://schemas.openxmlformats.org/officeDocument/2006/math">
                      <m:r>
                        <a:rPr lang="en-US" i="1"/>
                        <m:t>𝑋</m:t>
                      </m:r>
                      <m:r>
                        <a:rPr lang="en-US"/>
                        <m:t>∣</m:t>
                      </m:r>
                      <m:r>
                        <a:rPr lang="en-US" i="1"/>
                        <m:t>𝑌</m:t>
                      </m:r>
                      <m:r>
                        <a:rPr lang="en-US"/>
                        <m:t>=</m:t>
                      </m:r>
                      <m:r>
                        <a:rPr lang="en-US" i="1"/>
                        <m:t>𝑘</m:t>
                      </m:r>
                      <m:r>
                        <a:rPr lang="en-US"/>
                        <m:t>∼</m:t>
                      </m:r>
                      <m:r>
                        <a:rPr lang="en-US" i="1"/>
                        <m:t>𝑁</m:t>
                      </m:r>
                      <m:d>
                        <m:dPr>
                          <m:sepChr m:val=","/>
                          <m:ctrlPr>
                            <a:rPr lang="ar-AE" i="1"/>
                          </m:ctrlPr>
                        </m:dPr>
                        <m:e>
                          <m:sSub>
                            <m:sSubPr>
                              <m:ctrlPr>
                                <a:rPr lang="ar-AE" i="1"/>
                              </m:ctrlPr>
                            </m:sSubPr>
                            <m:e>
                              <m:r>
                                <a:rPr lang="ar-AE" i="1"/>
                                <m:t>𝜇</m:t>
                              </m:r>
                            </m:e>
                            <m:sub>
                              <m:r>
                                <a:rPr lang="ar-AE" i="1"/>
                                <m:t>𝑘</m:t>
                              </m:r>
                            </m:sub>
                          </m:sSub>
                        </m:e>
                        <m:e>
                          <m:sSup>
                            <m:sSupPr>
                              <m:ctrlPr>
                                <a:rPr lang="ar-AE" i="1"/>
                              </m:ctrlPr>
                            </m:sSupPr>
                            <m:e>
                              <m:r>
                                <a:rPr lang="ar-AE" i="1"/>
                                <m:t>𝜎</m:t>
                              </m:r>
                            </m:e>
                            <m:sup>
                              <m:r>
                                <a:rPr lang="ar-AE"/>
                                <m:t>2</m:t>
                              </m:r>
                            </m:sup>
                          </m:sSup>
                        </m:e>
                      </m:d>
                    </m:oMath>
                  </m:oMathPara>
                </a14:m>
                <a:endParaRPr lang="en-US" dirty="0"/>
              </a:p>
              <a:p>
                <a:endParaRPr lang="ar-AE" dirty="0"/>
              </a:p>
              <a:p>
                <a:r>
                  <a:rPr lang="en-US" dirty="0"/>
                  <a:t>Discriminant function:</a:t>
                </a:r>
              </a:p>
              <a:p>
                <a14:m>
                  <m:oMathPara xmlns:m="http://schemas.openxmlformats.org/officeDocument/2006/math">
                    <m:oMathParaPr>
                      <m:jc m:val="centerGroup"/>
                    </m:oMathParaPr>
                    <m:oMath xmlns:m="http://schemas.openxmlformats.org/officeDocument/2006/math">
                      <m:sSub>
                        <m:sSubPr>
                          <m:ctrlPr>
                            <a:rPr lang="ar-AE"/>
                          </m:ctrlPr>
                        </m:sSubPr>
                        <m:e>
                          <m:r>
                            <a:rPr lang="ar-AE" i="1"/>
                            <m:t>𝛿</m:t>
                          </m:r>
                        </m:e>
                        <m:sub>
                          <m:r>
                            <a:rPr lang="ar-AE" i="1"/>
                            <m:t>𝑘</m:t>
                          </m:r>
                        </m:sub>
                      </m:sSub>
                      <m:d>
                        <m:dPr>
                          <m:ctrlPr>
                            <a:rPr lang="ar-AE" i="1"/>
                          </m:ctrlPr>
                        </m:dPr>
                        <m:e>
                          <m:r>
                            <a:rPr lang="ar-AE" i="1"/>
                            <m:t>𝑥</m:t>
                          </m:r>
                        </m:e>
                      </m:d>
                      <m:r>
                        <a:rPr lang="ar-AE"/>
                        <m:t>=</m:t>
                      </m:r>
                      <m:f>
                        <m:fPr>
                          <m:ctrlPr>
                            <a:rPr lang="ar-AE" i="1"/>
                          </m:ctrlPr>
                        </m:fPr>
                        <m:num>
                          <m:sSub>
                            <m:sSubPr>
                              <m:ctrlPr>
                                <a:rPr lang="ar-AE" i="1"/>
                              </m:ctrlPr>
                            </m:sSubPr>
                            <m:e>
                              <m:r>
                                <a:rPr lang="ar-AE" i="1"/>
                                <m:t>𝜇</m:t>
                              </m:r>
                            </m:e>
                            <m:sub>
                              <m:r>
                                <a:rPr lang="ar-AE" i="1"/>
                                <m:t>𝑘</m:t>
                              </m:r>
                            </m:sub>
                          </m:sSub>
                        </m:num>
                        <m:den>
                          <m:sSup>
                            <m:sSupPr>
                              <m:ctrlPr>
                                <a:rPr lang="ar-AE" i="1"/>
                              </m:ctrlPr>
                            </m:sSupPr>
                            <m:e>
                              <m:r>
                                <a:rPr lang="ar-AE" i="1"/>
                                <m:t>𝜎</m:t>
                              </m:r>
                            </m:e>
                            <m:sup>
                              <m:r>
                                <a:rPr lang="ar-AE"/>
                                <m:t>2</m:t>
                              </m:r>
                            </m:sup>
                          </m:sSup>
                        </m:den>
                      </m:f>
                      <m:r>
                        <a:rPr lang="ar-AE" i="1"/>
                        <m:t>𝑥</m:t>
                      </m:r>
                      <m:r>
                        <a:rPr lang="ar-AE"/>
                        <m:t>−</m:t>
                      </m:r>
                      <m:f>
                        <m:fPr>
                          <m:ctrlPr>
                            <a:rPr lang="ar-AE" i="1"/>
                          </m:ctrlPr>
                        </m:fPr>
                        <m:num>
                          <m:sSubSup>
                            <m:sSubSupPr>
                              <m:ctrlPr>
                                <a:rPr lang="ar-AE" i="1"/>
                              </m:ctrlPr>
                            </m:sSubSupPr>
                            <m:e>
                              <m:r>
                                <a:rPr lang="ar-AE" i="1"/>
                                <m:t>𝜇</m:t>
                              </m:r>
                            </m:e>
                            <m:sub>
                              <m:r>
                                <a:rPr lang="ar-AE" i="1"/>
                                <m:t>𝑘</m:t>
                              </m:r>
                            </m:sub>
                            <m:sup>
                              <m:r>
                                <a:rPr lang="ar-AE"/>
                                <m:t>2</m:t>
                              </m:r>
                            </m:sup>
                          </m:sSubSup>
                        </m:num>
                        <m:den>
                          <m:r>
                            <a:rPr lang="ar-AE"/>
                            <m:t>2</m:t>
                          </m:r>
                          <m:sSup>
                            <m:sSupPr>
                              <m:ctrlPr>
                                <a:rPr lang="ar-AE" i="1"/>
                              </m:ctrlPr>
                            </m:sSupPr>
                            <m:e>
                              <m:r>
                                <a:rPr lang="ar-AE" i="1"/>
                                <m:t>𝜎</m:t>
                              </m:r>
                            </m:e>
                            <m:sup>
                              <m:r>
                                <a:rPr lang="ar-AE"/>
                                <m:t>2</m:t>
                              </m:r>
                            </m:sup>
                          </m:sSup>
                        </m:den>
                      </m:f>
                      <m:r>
                        <a:rPr lang="ar-AE"/>
                        <m:t>+</m:t>
                      </m:r>
                      <m:func>
                        <m:funcPr>
                          <m:ctrlPr>
                            <a:rPr lang="ar-AE" i="1"/>
                          </m:ctrlPr>
                        </m:funcPr>
                        <m:fName>
                          <m:r>
                            <m:rPr>
                              <m:sty m:val="p"/>
                            </m:rPr>
                            <a:rPr lang="en-US"/>
                            <m:t>log</m:t>
                          </m:r>
                        </m:fName>
                        <m:e>
                          <m:sSub>
                            <m:sSubPr>
                              <m:ctrlPr>
                                <a:rPr lang="ar-AE" i="1"/>
                              </m:ctrlPr>
                            </m:sSubPr>
                            <m:e>
                              <m:r>
                                <a:rPr lang="ar-AE" i="1"/>
                                <m:t>𝜋</m:t>
                              </m:r>
                            </m:e>
                            <m:sub>
                              <m:r>
                                <a:rPr lang="ar-AE" i="1"/>
                                <m:t>𝑘</m:t>
                              </m:r>
                            </m:sub>
                          </m:sSub>
                        </m:e>
                      </m:func>
                    </m:oMath>
                  </m:oMathPara>
                </a14:m>
                <a:endParaRPr lang="en-US" dirty="0"/>
              </a:p>
              <a:p>
                <a:endParaRPr lang="ar-AE" dirty="0"/>
              </a:p>
              <a:p>
                <a:r>
                  <a:rPr lang="en-US" dirty="0"/>
                  <a:t>Decision:</a:t>
                </a:r>
              </a:p>
              <a:p>
                <a14:m>
                  <m:oMathPara xmlns:m="http://schemas.openxmlformats.org/officeDocument/2006/math">
                    <m:oMathParaPr>
                      <m:jc m:val="centerGroup"/>
                    </m:oMathParaPr>
                    <m:oMath xmlns:m="http://schemas.openxmlformats.org/officeDocument/2006/math">
                      <m:r>
                        <m:rPr>
                          <m:nor/>
                        </m:rPr>
                        <a:rPr lang="en-US" b="0"/>
                        <m:t>Choose</m:t>
                      </m:r>
                      <m:r>
                        <m:rPr>
                          <m:nor/>
                        </m:rPr>
                        <a:rPr lang="en-US" b="0" i="1"/>
                        <m:t> </m:t>
                      </m:r>
                      <m:r>
                        <m:rPr>
                          <m:nor/>
                        </m:rPr>
                        <a:rPr lang="en-US" b="0" i="1"/>
                        <m:t>class</m:t>
                      </m:r>
                      <m:r>
                        <m:rPr>
                          <m:nor/>
                        </m:rPr>
                        <a:rPr lang="en-US" b="0" i="1"/>
                        <m:t> </m:t>
                      </m:r>
                      <m:r>
                        <a:rPr lang="en-US" b="0" i="1"/>
                        <m:t>𝑘</m:t>
                      </m:r>
                      <m:r>
                        <a:rPr lang="en-US"/>
                        <m:t>=</m:t>
                      </m:r>
                      <m:func>
                        <m:funcPr>
                          <m:ctrlPr>
                            <a:rPr lang="ar-AE" i="1"/>
                          </m:ctrlPr>
                        </m:funcPr>
                        <m:fName>
                          <m:func>
                            <m:funcPr>
                              <m:ctrlPr>
                                <a:rPr lang="ar-AE" i="1"/>
                              </m:ctrlPr>
                            </m:funcPr>
                            <m:fName>
                              <m:r>
                                <m:rPr>
                                  <m:sty m:val="p"/>
                                </m:rPr>
                                <a:rPr lang="en-US"/>
                                <m:t>arg</m:t>
                              </m:r>
                            </m:fName>
                            <m:e>
                              <m:r>
                                <m:rPr>
                                  <m:sty m:val="p"/>
                                </m:rPr>
                                <a:rPr lang="en-US"/>
                                <m:t>max</m:t>
                              </m:r>
                            </m:e>
                          </m:func>
                        </m:fName>
                        <m:e>
                          <m:sSub>
                            <m:sSubPr>
                              <m:ctrlPr>
                                <a:rPr lang="ar-AE" i="1"/>
                              </m:ctrlPr>
                            </m:sSubPr>
                            <m:e>
                              <m:r>
                                <a:rPr lang="ar-AE" i="1"/>
                                <m:t>𝛿</m:t>
                              </m:r>
                            </m:e>
                            <m:sub>
                              <m:r>
                                <a:rPr lang="ar-AE" i="1"/>
                                <m:t>𝑘</m:t>
                              </m:r>
                            </m:sub>
                          </m:sSub>
                        </m:e>
                      </m:func>
                      <m:d>
                        <m:dPr>
                          <m:ctrlPr>
                            <a:rPr lang="ar-AE" i="1"/>
                          </m:ctrlPr>
                        </m:dPr>
                        <m:e>
                          <m:r>
                            <a:rPr lang="ar-AE" i="1"/>
                            <m:t>𝑥</m:t>
                          </m:r>
                        </m:e>
                      </m:d>
                    </m:oMath>
                  </m:oMathPara>
                </a14:m>
                <a:endParaRPr lang="ar-AE" b="0" dirty="0"/>
              </a:p>
              <a:p>
                <a:pPr algn="ctr"/>
                <a:endParaRPr lang="en-US" dirty="0"/>
              </a:p>
            </p:txBody>
          </p:sp>
        </mc:Choice>
        <mc:Fallback>
          <p:sp>
            <p:nvSpPr>
              <p:cNvPr id="2" name="TextBox 1">
                <a:extLst>
                  <a:ext uri="{FF2B5EF4-FFF2-40B4-BE49-F238E27FC236}">
                    <a16:creationId xmlns:a16="http://schemas.microsoft.com/office/drawing/2014/main" id="{CA61D1E8-2B7E-849E-C099-587C4D8BEE76}"/>
                  </a:ext>
                </a:extLst>
              </p:cNvPr>
              <p:cNvSpPr txBox="1">
                <a:spLocks noRot="1" noChangeAspect="1" noMove="1" noResize="1" noEditPoints="1" noAdjustHandles="1" noChangeArrowheads="1" noChangeShapeType="1" noTextEdit="1"/>
              </p:cNvSpPr>
              <p:nvPr/>
            </p:nvSpPr>
            <p:spPr>
              <a:xfrm>
                <a:off x="589391" y="1472375"/>
                <a:ext cx="9659132" cy="3767328"/>
              </a:xfrm>
              <a:prstGeom prst="rect">
                <a:avLst/>
              </a:prstGeom>
              <a:blipFill>
                <a:blip r:embed="rId2"/>
                <a:stretch>
                  <a:fillRect l="-568" t="-971"/>
                </a:stretch>
              </a:blipFill>
            </p:spPr>
            <p:txBody>
              <a:bodyPr/>
              <a:lstStyle/>
              <a:p>
                <a:r>
                  <a:rPr lang="en-US">
                    <a:noFill/>
                  </a:rPr>
                  <a:t> </a:t>
                </a:r>
              </a:p>
            </p:txBody>
          </p:sp>
        </mc:Fallback>
      </mc:AlternateContent>
      <p:pic>
        <p:nvPicPr>
          <p:cNvPr id="3" name="Picture 2" descr="A blue text on a black background&#10;&#10;AI-generated content may be incorrect.">
            <a:extLst>
              <a:ext uri="{FF2B5EF4-FFF2-40B4-BE49-F238E27FC236}">
                <a16:creationId xmlns:a16="http://schemas.microsoft.com/office/drawing/2014/main" id="{E11F14FE-75CD-76B3-F38B-0A7DEB30B01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3367926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BF7757-77E5-14EA-918D-D4ED3BA1FA62}"/>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24BC3014-5201-579A-E74A-05CF3E5125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1B30CE39-4861-D3C7-69C9-1DD593EB60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A69CA-F9F6-6991-0A86-CB83DB9C7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1587E7B-E1BF-0BF6-AD9C-68B8E8584F8E}"/>
                  </a:ext>
                </a:extLst>
              </p:cNvPr>
              <p:cNvSpPr txBox="1"/>
              <p:nvPr/>
            </p:nvSpPr>
            <p:spPr>
              <a:xfrm>
                <a:off x="589391" y="1472375"/>
                <a:ext cx="9659132" cy="3767328"/>
              </a:xfrm>
              <a:prstGeom prst="rect">
                <a:avLst/>
              </a:prstGeom>
            </p:spPr>
            <p:txBody>
              <a:bodyPr vert="horz" lIns="91440" tIns="45720" rIns="91440" bIns="45720" rtlCol="0">
                <a:normAutofit/>
              </a:bodyPr>
              <a:lstStyle/>
              <a:p>
                <a:pPr algn="ctr"/>
                <a:r>
                  <a:rPr lang="en-US" b="1" dirty="0"/>
                  <a:t>LDA = Likelihood Ratio</a:t>
                </a:r>
              </a:p>
              <a:p>
                <a:pPr algn="ctr"/>
                <a:endParaRPr lang="en-US" b="1" dirty="0"/>
              </a:p>
              <a:p>
                <a:pPr algn="ctr"/>
                <a:endParaRPr lang="en-US" b="1" dirty="0"/>
              </a:p>
              <a:p>
                <a:r>
                  <a:rPr lang="en-US" dirty="0"/>
                  <a:t>Compute:</a:t>
                </a:r>
              </a:p>
              <a:p>
                <a14:m>
                  <m:oMathPara xmlns:m="http://schemas.openxmlformats.org/officeDocument/2006/math">
                    <m:oMathParaPr>
                      <m:jc m:val="centerGroup"/>
                    </m:oMathParaPr>
                    <m:oMath xmlns:m="http://schemas.openxmlformats.org/officeDocument/2006/math">
                      <m:func>
                        <m:funcPr>
                          <m:ctrlPr>
                            <a:rPr lang="ar-AE"/>
                          </m:ctrlPr>
                        </m:funcPr>
                        <m:fName>
                          <m:r>
                            <m:rPr>
                              <m:sty m:val="p"/>
                            </m:rPr>
                            <a:rPr lang="en-US"/>
                            <m:t>log</m:t>
                          </m:r>
                        </m:fName>
                        <m:e>
                          <m:f>
                            <m:fPr>
                              <m:ctrlPr>
                                <a:rPr lang="ar-AE" i="1"/>
                              </m:ctrlPr>
                            </m:fPr>
                            <m:num>
                              <m:sSub>
                                <m:sSubPr>
                                  <m:ctrlPr>
                                    <a:rPr lang="ar-AE" i="1"/>
                                  </m:ctrlPr>
                                </m:sSubPr>
                                <m:e>
                                  <m:r>
                                    <a:rPr lang="ar-AE" i="1"/>
                                    <m:t>𝑓</m:t>
                                  </m:r>
                                </m:e>
                                <m:sub>
                                  <m:r>
                                    <a:rPr lang="ar-AE"/>
                                    <m:t>1</m:t>
                                  </m:r>
                                </m:sub>
                              </m:sSub>
                              <m:d>
                                <m:dPr>
                                  <m:ctrlPr>
                                    <a:rPr lang="ar-AE" i="1"/>
                                  </m:ctrlPr>
                                </m:dPr>
                                <m:e>
                                  <m:r>
                                    <a:rPr lang="ar-AE" i="1"/>
                                    <m:t>𝑥</m:t>
                                  </m:r>
                                </m:e>
                              </m:d>
                            </m:num>
                            <m:den>
                              <m:sSub>
                                <m:sSubPr>
                                  <m:ctrlPr>
                                    <a:rPr lang="ar-AE" i="1"/>
                                  </m:ctrlPr>
                                </m:sSubPr>
                                <m:e>
                                  <m:r>
                                    <a:rPr lang="ar-AE" i="1"/>
                                    <m:t>𝑓</m:t>
                                  </m:r>
                                </m:e>
                                <m:sub>
                                  <m:r>
                                    <a:rPr lang="ar-AE"/>
                                    <m:t>0</m:t>
                                  </m:r>
                                </m:sub>
                              </m:sSub>
                              <m:d>
                                <m:dPr>
                                  <m:ctrlPr>
                                    <a:rPr lang="ar-AE" i="1"/>
                                  </m:ctrlPr>
                                </m:dPr>
                                <m:e>
                                  <m:r>
                                    <a:rPr lang="ar-AE" i="1"/>
                                    <m:t>𝑥</m:t>
                                  </m:r>
                                </m:e>
                              </m:d>
                            </m:den>
                          </m:f>
                        </m:e>
                      </m:func>
                    </m:oMath>
                  </m:oMathPara>
                </a14:m>
                <a:endParaRPr lang="en-US" dirty="0"/>
              </a:p>
              <a:p>
                <a:endParaRPr lang="ar-AE" dirty="0"/>
              </a:p>
              <a:p>
                <a:r>
                  <a:rPr lang="en-US" dirty="0"/>
                  <a:t>Result:</a:t>
                </a:r>
              </a:p>
              <a:p>
                <a14:m>
                  <m:oMathPara xmlns:m="http://schemas.openxmlformats.org/officeDocument/2006/math">
                    <m:oMathParaPr>
                      <m:jc m:val="centerGroup"/>
                    </m:oMathParaPr>
                    <m:oMath xmlns:m="http://schemas.openxmlformats.org/officeDocument/2006/math">
                      <m:r>
                        <a:rPr lang="en-US"/>
                        <m:t>=</m:t>
                      </m:r>
                      <m:f>
                        <m:fPr>
                          <m:ctrlPr>
                            <a:rPr lang="ar-AE" i="1"/>
                          </m:ctrlPr>
                        </m:fPr>
                        <m:num>
                          <m:sSub>
                            <m:sSubPr>
                              <m:ctrlPr>
                                <a:rPr lang="ar-AE" i="1"/>
                              </m:ctrlPr>
                            </m:sSubPr>
                            <m:e>
                              <m:r>
                                <a:rPr lang="ar-AE" i="1"/>
                                <m:t>𝜇</m:t>
                              </m:r>
                            </m:e>
                            <m:sub>
                              <m:r>
                                <a:rPr lang="ar-AE"/>
                                <m:t>1</m:t>
                              </m:r>
                            </m:sub>
                          </m:sSub>
                          <m:r>
                            <a:rPr lang="ar-AE"/>
                            <m:t>−</m:t>
                          </m:r>
                          <m:sSub>
                            <m:sSubPr>
                              <m:ctrlPr>
                                <a:rPr lang="ar-AE" i="1"/>
                              </m:ctrlPr>
                            </m:sSubPr>
                            <m:e>
                              <m:r>
                                <a:rPr lang="ar-AE" i="1"/>
                                <m:t>𝜇</m:t>
                              </m:r>
                            </m:e>
                            <m:sub>
                              <m:r>
                                <a:rPr lang="ar-AE"/>
                                <m:t>0</m:t>
                              </m:r>
                            </m:sub>
                          </m:sSub>
                        </m:num>
                        <m:den>
                          <m:sSup>
                            <m:sSupPr>
                              <m:ctrlPr>
                                <a:rPr lang="ar-AE" i="1"/>
                              </m:ctrlPr>
                            </m:sSupPr>
                            <m:e>
                              <m:r>
                                <a:rPr lang="ar-AE" i="1"/>
                                <m:t>𝜎</m:t>
                              </m:r>
                            </m:e>
                            <m:sup>
                              <m:r>
                                <a:rPr lang="ar-AE"/>
                                <m:t>2</m:t>
                              </m:r>
                            </m:sup>
                          </m:sSup>
                        </m:den>
                      </m:f>
                      <m:r>
                        <a:rPr lang="ar-AE" i="1"/>
                        <m:t>𝑥</m:t>
                      </m:r>
                      <m:r>
                        <a:rPr lang="ar-AE"/>
                        <m:t>+</m:t>
                      </m:r>
                      <m:r>
                        <m:rPr>
                          <m:nor/>
                        </m:rPr>
                        <a:rPr lang="en-US" i="1"/>
                        <m:t>constant</m:t>
                      </m:r>
                    </m:oMath>
                  </m:oMathPara>
                </a14:m>
                <a:endParaRPr lang="en-US" b="0" dirty="0"/>
              </a:p>
              <a:p>
                <a:endParaRPr lang="en-US" b="0" dirty="0"/>
              </a:p>
              <a:p>
                <a:r>
                  <a:rPr lang="en-US" dirty="0"/>
                  <a:t>Linear in </a:t>
                </a:r>
                <a14:m>
                  <m:oMath xmlns:m="http://schemas.openxmlformats.org/officeDocument/2006/math">
                    <m:r>
                      <a:rPr lang="en-US" i="1"/>
                      <m:t>𝑥</m:t>
                    </m:r>
                  </m:oMath>
                </a14:m>
                <a:endParaRPr lang="en-US" dirty="0"/>
              </a:p>
              <a:p>
                <a:pPr algn="ctr"/>
                <a:endParaRPr lang="en-US" dirty="0"/>
              </a:p>
            </p:txBody>
          </p:sp>
        </mc:Choice>
        <mc:Fallback>
          <p:sp>
            <p:nvSpPr>
              <p:cNvPr id="2" name="TextBox 1">
                <a:extLst>
                  <a:ext uri="{FF2B5EF4-FFF2-40B4-BE49-F238E27FC236}">
                    <a16:creationId xmlns:a16="http://schemas.microsoft.com/office/drawing/2014/main" id="{71587E7B-E1BF-0BF6-AD9C-68B8E8584F8E}"/>
                  </a:ext>
                </a:extLst>
              </p:cNvPr>
              <p:cNvSpPr txBox="1">
                <a:spLocks noRot="1" noChangeAspect="1" noMove="1" noResize="1" noEditPoints="1" noAdjustHandles="1" noChangeArrowheads="1" noChangeShapeType="1" noTextEdit="1"/>
              </p:cNvSpPr>
              <p:nvPr/>
            </p:nvSpPr>
            <p:spPr>
              <a:xfrm>
                <a:off x="589391" y="1472375"/>
                <a:ext cx="9659132" cy="3767328"/>
              </a:xfrm>
              <a:prstGeom prst="rect">
                <a:avLst/>
              </a:prstGeom>
              <a:blipFill>
                <a:blip r:embed="rId2"/>
                <a:stretch>
                  <a:fillRect l="-568" t="-971"/>
                </a:stretch>
              </a:blipFill>
            </p:spPr>
            <p:txBody>
              <a:bodyPr/>
              <a:lstStyle/>
              <a:p>
                <a:r>
                  <a:rPr lang="en-US">
                    <a:noFill/>
                  </a:rPr>
                  <a:t> </a:t>
                </a:r>
              </a:p>
            </p:txBody>
          </p:sp>
        </mc:Fallback>
      </mc:AlternateContent>
      <p:pic>
        <p:nvPicPr>
          <p:cNvPr id="3" name="Picture 2" descr="A blue text on a black background&#10;&#10;AI-generated content may be incorrect.">
            <a:extLst>
              <a:ext uri="{FF2B5EF4-FFF2-40B4-BE49-F238E27FC236}">
                <a16:creationId xmlns:a16="http://schemas.microsoft.com/office/drawing/2014/main" id="{4C266BFA-139B-1721-B05F-7F11B41FABEC}"/>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7695868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42082C-3C56-3FF5-A8E9-519CC8FDE118}"/>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E51B88EC-D645-0423-336D-279359DEAA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245C7C2C-EDA9-136A-D838-01793F8CF0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B4F7258-19FC-C4D3-3993-945F0CDCC5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F6D0255-4A26-659A-563D-D1B40F2E1FC6}"/>
                  </a:ext>
                </a:extLst>
              </p:cNvPr>
              <p:cNvSpPr txBox="1"/>
              <p:nvPr/>
            </p:nvSpPr>
            <p:spPr>
              <a:xfrm>
                <a:off x="589391" y="1472375"/>
                <a:ext cx="9659132" cy="3767328"/>
              </a:xfrm>
              <a:prstGeom prst="rect">
                <a:avLst/>
              </a:prstGeom>
            </p:spPr>
            <p:txBody>
              <a:bodyPr vert="horz" lIns="91440" tIns="45720" rIns="91440" bIns="45720" rtlCol="0">
                <a:normAutofit/>
              </a:bodyPr>
              <a:lstStyle/>
              <a:p>
                <a:pPr algn="ctr"/>
                <a:r>
                  <a:rPr lang="en-US" b="1" dirty="0"/>
                  <a:t>LDA Decision Rule</a:t>
                </a:r>
              </a:p>
              <a:p>
                <a:pPr algn="ctr"/>
                <a:endParaRPr lang="en-US" b="1" dirty="0"/>
              </a:p>
              <a:p>
                <a:pPr algn="ctr"/>
                <a:endParaRPr lang="en-US" b="1" dirty="0"/>
              </a:p>
              <a:p>
                <a14:m>
                  <m:oMathPara xmlns:m="http://schemas.openxmlformats.org/officeDocument/2006/math">
                    <m:oMathParaPr>
                      <m:jc m:val="centerGroup"/>
                    </m:oMathParaPr>
                    <m:oMath xmlns:m="http://schemas.openxmlformats.org/officeDocument/2006/math">
                      <m:sSub>
                        <m:sSubPr>
                          <m:ctrlPr>
                            <a:rPr lang="ar-AE"/>
                          </m:ctrlPr>
                        </m:sSubPr>
                        <m:e>
                          <m:r>
                            <a:rPr lang="ar-AE" i="1"/>
                            <m:t>𝛿</m:t>
                          </m:r>
                        </m:e>
                        <m:sub>
                          <m:r>
                            <a:rPr lang="ar-AE"/>
                            <m:t>1</m:t>
                          </m:r>
                        </m:sub>
                      </m:sSub>
                      <m:d>
                        <m:dPr>
                          <m:ctrlPr>
                            <a:rPr lang="ar-AE" i="1"/>
                          </m:ctrlPr>
                        </m:dPr>
                        <m:e>
                          <m:r>
                            <a:rPr lang="ar-AE" i="1"/>
                            <m:t>𝑥</m:t>
                          </m:r>
                        </m:e>
                      </m:d>
                      <m:r>
                        <a:rPr lang="ar-AE"/>
                        <m:t>−</m:t>
                      </m:r>
                      <m:sSub>
                        <m:sSubPr>
                          <m:ctrlPr>
                            <a:rPr lang="ar-AE" i="1"/>
                          </m:ctrlPr>
                        </m:sSubPr>
                        <m:e>
                          <m:r>
                            <a:rPr lang="ar-AE" i="1"/>
                            <m:t>𝛿</m:t>
                          </m:r>
                        </m:e>
                        <m:sub>
                          <m:r>
                            <a:rPr lang="ar-AE"/>
                            <m:t>0</m:t>
                          </m:r>
                        </m:sub>
                      </m:sSub>
                      <m:d>
                        <m:dPr>
                          <m:ctrlPr>
                            <a:rPr lang="ar-AE" i="1"/>
                          </m:ctrlPr>
                        </m:dPr>
                        <m:e>
                          <m:r>
                            <a:rPr lang="ar-AE" i="1"/>
                            <m:t>𝑥</m:t>
                          </m:r>
                        </m:e>
                      </m:d>
                      <m:r>
                        <a:rPr lang="ar-AE"/>
                        <m:t>=</m:t>
                      </m:r>
                      <m:func>
                        <m:funcPr>
                          <m:ctrlPr>
                            <a:rPr lang="ar-AE" i="1"/>
                          </m:ctrlPr>
                        </m:funcPr>
                        <m:fName>
                          <m:r>
                            <m:rPr>
                              <m:sty m:val="p"/>
                            </m:rPr>
                            <a:rPr lang="en-US"/>
                            <m:t>log</m:t>
                          </m:r>
                        </m:fName>
                        <m:e>
                          <m:f>
                            <m:fPr>
                              <m:ctrlPr>
                                <a:rPr lang="ar-AE" i="1"/>
                              </m:ctrlPr>
                            </m:fPr>
                            <m:num>
                              <m:sSub>
                                <m:sSubPr>
                                  <m:ctrlPr>
                                    <a:rPr lang="ar-AE" i="1"/>
                                  </m:ctrlPr>
                                </m:sSubPr>
                                <m:e>
                                  <m:r>
                                    <a:rPr lang="ar-AE" i="1"/>
                                    <m:t>𝜋</m:t>
                                  </m:r>
                                </m:e>
                                <m:sub>
                                  <m:r>
                                    <a:rPr lang="ar-AE"/>
                                    <m:t>1</m:t>
                                  </m:r>
                                </m:sub>
                              </m:sSub>
                              <m:sSub>
                                <m:sSubPr>
                                  <m:ctrlPr>
                                    <a:rPr lang="ar-AE" i="1"/>
                                  </m:ctrlPr>
                                </m:sSubPr>
                                <m:e>
                                  <m:r>
                                    <a:rPr lang="ar-AE" i="1"/>
                                    <m:t>𝑓</m:t>
                                  </m:r>
                                </m:e>
                                <m:sub>
                                  <m:r>
                                    <a:rPr lang="ar-AE"/>
                                    <m:t>1</m:t>
                                  </m:r>
                                </m:sub>
                              </m:sSub>
                              <m:d>
                                <m:dPr>
                                  <m:ctrlPr>
                                    <a:rPr lang="ar-AE" i="1"/>
                                  </m:ctrlPr>
                                </m:dPr>
                                <m:e>
                                  <m:r>
                                    <a:rPr lang="ar-AE" i="1"/>
                                    <m:t>𝑥</m:t>
                                  </m:r>
                                </m:e>
                              </m:d>
                            </m:num>
                            <m:den>
                              <m:sSub>
                                <m:sSubPr>
                                  <m:ctrlPr>
                                    <a:rPr lang="ar-AE" i="1"/>
                                  </m:ctrlPr>
                                </m:sSubPr>
                                <m:e>
                                  <m:r>
                                    <a:rPr lang="ar-AE" i="1"/>
                                    <m:t>𝜋</m:t>
                                  </m:r>
                                </m:e>
                                <m:sub>
                                  <m:r>
                                    <a:rPr lang="ar-AE"/>
                                    <m:t>0</m:t>
                                  </m:r>
                                </m:sub>
                              </m:sSub>
                              <m:sSub>
                                <m:sSubPr>
                                  <m:ctrlPr>
                                    <a:rPr lang="ar-AE" i="1"/>
                                  </m:ctrlPr>
                                </m:sSubPr>
                                <m:e>
                                  <m:r>
                                    <a:rPr lang="ar-AE" i="1"/>
                                    <m:t>𝑓</m:t>
                                  </m:r>
                                </m:e>
                                <m:sub>
                                  <m:r>
                                    <a:rPr lang="ar-AE"/>
                                    <m:t>0</m:t>
                                  </m:r>
                                </m:sub>
                              </m:sSub>
                              <m:d>
                                <m:dPr>
                                  <m:ctrlPr>
                                    <a:rPr lang="ar-AE" i="1"/>
                                  </m:ctrlPr>
                                </m:dPr>
                                <m:e>
                                  <m:r>
                                    <a:rPr lang="ar-AE" i="1"/>
                                    <m:t>𝑥</m:t>
                                  </m:r>
                                </m:e>
                              </m:d>
                            </m:den>
                          </m:f>
                        </m:e>
                      </m:func>
                    </m:oMath>
                  </m:oMathPara>
                </a14:m>
                <a:endParaRPr lang="en-US" dirty="0"/>
              </a:p>
              <a:p>
                <a:endParaRPr lang="en-US" dirty="0"/>
              </a:p>
              <a:p>
                <a:endParaRPr lang="ar-AE" dirty="0"/>
              </a:p>
              <a:p>
                <a:r>
                  <a:rPr lang="en-US" dirty="0"/>
                  <a:t>Decision:</a:t>
                </a:r>
              </a:p>
              <a:p>
                <a14:m>
                  <m:oMathPara xmlns:m="http://schemas.openxmlformats.org/officeDocument/2006/math">
                    <m:oMathParaPr>
                      <m:jc m:val="centerGroup"/>
                    </m:oMathParaPr>
                    <m:oMath xmlns:m="http://schemas.openxmlformats.org/officeDocument/2006/math">
                      <m:r>
                        <m:rPr>
                          <m:nor/>
                        </m:rPr>
                        <a:rPr lang="en-US" b="0"/>
                        <m:t>Choose</m:t>
                      </m:r>
                      <m:r>
                        <m:rPr>
                          <m:nor/>
                        </m:rPr>
                        <a:rPr lang="en-US" b="0" i="1"/>
                        <m:t> </m:t>
                      </m:r>
                      <m:r>
                        <a:rPr lang="en-US"/>
                        <m:t>1</m:t>
                      </m:r>
                      <m:r>
                        <m:rPr>
                          <m:nor/>
                        </m:rPr>
                        <a:rPr lang="en-US" i="1"/>
                        <m:t> </m:t>
                      </m:r>
                      <m:r>
                        <m:rPr>
                          <m:nor/>
                        </m:rPr>
                        <a:rPr lang="en-US" i="1"/>
                        <m:t>if</m:t>
                      </m:r>
                      <m:r>
                        <m:rPr>
                          <m:nor/>
                        </m:rPr>
                        <a:rPr lang="en-US" i="1"/>
                        <m:t> </m:t>
                      </m:r>
                      <m:sSub>
                        <m:sSubPr>
                          <m:ctrlPr>
                            <a:rPr lang="ar-AE" i="1"/>
                          </m:ctrlPr>
                        </m:sSubPr>
                        <m:e>
                          <m:r>
                            <a:rPr lang="ar-AE" i="1"/>
                            <m:t>𝛿</m:t>
                          </m:r>
                        </m:e>
                        <m:sub>
                          <m:r>
                            <a:rPr lang="ar-AE"/>
                            <m:t>1</m:t>
                          </m:r>
                        </m:sub>
                      </m:sSub>
                      <m:d>
                        <m:dPr>
                          <m:ctrlPr>
                            <a:rPr lang="ar-AE" i="1"/>
                          </m:ctrlPr>
                        </m:dPr>
                        <m:e>
                          <m:r>
                            <a:rPr lang="ar-AE" i="1"/>
                            <m:t>𝑥</m:t>
                          </m:r>
                        </m:e>
                      </m:d>
                      <m:r>
                        <a:rPr lang="ar-AE"/>
                        <m:t>&gt;</m:t>
                      </m:r>
                      <m:sSub>
                        <m:sSubPr>
                          <m:ctrlPr>
                            <a:rPr lang="ar-AE" i="1"/>
                          </m:ctrlPr>
                        </m:sSubPr>
                        <m:e>
                          <m:r>
                            <a:rPr lang="ar-AE" i="1"/>
                            <m:t>𝛿</m:t>
                          </m:r>
                        </m:e>
                        <m:sub>
                          <m:r>
                            <a:rPr lang="ar-AE"/>
                            <m:t>0</m:t>
                          </m:r>
                        </m:sub>
                      </m:sSub>
                      <m:d>
                        <m:dPr>
                          <m:ctrlPr>
                            <a:rPr lang="ar-AE" i="1"/>
                          </m:ctrlPr>
                        </m:dPr>
                        <m:e>
                          <m:r>
                            <a:rPr lang="ar-AE" i="1"/>
                            <m:t>𝑥</m:t>
                          </m:r>
                        </m:e>
                      </m:d>
                    </m:oMath>
                  </m:oMathPara>
                </a14:m>
                <a:endParaRPr lang="en-US" b="0" dirty="0"/>
              </a:p>
              <a:p>
                <a:endParaRPr lang="en-US" b="0" dirty="0"/>
              </a:p>
              <a:p>
                <a:endParaRPr lang="en-US" dirty="0"/>
              </a:p>
              <a:p>
                <a:endParaRPr lang="ar-AE" b="0" dirty="0"/>
              </a:p>
              <a:p>
                <a:r>
                  <a:rPr lang="en-US" dirty="0"/>
                  <a:t>Equivalent to likelihood ratio test</a:t>
                </a:r>
              </a:p>
              <a:p>
                <a:pPr algn="ctr"/>
                <a:endParaRPr lang="en-US" dirty="0"/>
              </a:p>
            </p:txBody>
          </p:sp>
        </mc:Choice>
        <mc:Fallback>
          <p:sp>
            <p:nvSpPr>
              <p:cNvPr id="2" name="TextBox 1">
                <a:extLst>
                  <a:ext uri="{FF2B5EF4-FFF2-40B4-BE49-F238E27FC236}">
                    <a16:creationId xmlns:a16="http://schemas.microsoft.com/office/drawing/2014/main" id="{7F6D0255-4A26-659A-563D-D1B40F2E1FC6}"/>
                  </a:ext>
                </a:extLst>
              </p:cNvPr>
              <p:cNvSpPr txBox="1">
                <a:spLocks noRot="1" noChangeAspect="1" noMove="1" noResize="1" noEditPoints="1" noAdjustHandles="1" noChangeArrowheads="1" noChangeShapeType="1" noTextEdit="1"/>
              </p:cNvSpPr>
              <p:nvPr/>
            </p:nvSpPr>
            <p:spPr>
              <a:xfrm>
                <a:off x="589391" y="1472375"/>
                <a:ext cx="9659132" cy="3767328"/>
              </a:xfrm>
              <a:prstGeom prst="rect">
                <a:avLst/>
              </a:prstGeom>
              <a:blipFill>
                <a:blip r:embed="rId2"/>
                <a:stretch>
                  <a:fillRect l="-568" t="-971" b="-647"/>
                </a:stretch>
              </a:blipFill>
            </p:spPr>
            <p:txBody>
              <a:bodyPr/>
              <a:lstStyle/>
              <a:p>
                <a:r>
                  <a:rPr lang="en-US">
                    <a:noFill/>
                  </a:rPr>
                  <a:t> </a:t>
                </a:r>
              </a:p>
            </p:txBody>
          </p:sp>
        </mc:Fallback>
      </mc:AlternateContent>
      <p:pic>
        <p:nvPicPr>
          <p:cNvPr id="3" name="Picture 2" descr="A blue text on a black background&#10;&#10;AI-generated content may be incorrect.">
            <a:extLst>
              <a:ext uri="{FF2B5EF4-FFF2-40B4-BE49-F238E27FC236}">
                <a16:creationId xmlns:a16="http://schemas.microsoft.com/office/drawing/2014/main" id="{A901C4EC-7174-7CA4-4A95-94E22AC86D0D}"/>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454719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C94EC6-3388-C92C-315C-825C28ECF16C}"/>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AA0B0BF8-35E2-17E5-BDA4-B9EB93D48B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DD0D72C5-A951-6303-1A23-E2BBA4CCB3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2A004E4-4A5D-9FC7-7526-EA741EF309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9E464B22-7190-DF8E-1BA5-3239BA75EBCD}"/>
                  </a:ext>
                </a:extLst>
              </p:cNvPr>
              <p:cNvSpPr txBox="1"/>
              <p:nvPr/>
            </p:nvSpPr>
            <p:spPr>
              <a:xfrm>
                <a:off x="589391" y="1472375"/>
                <a:ext cx="9659132" cy="3767328"/>
              </a:xfrm>
              <a:prstGeom prst="rect">
                <a:avLst/>
              </a:prstGeom>
            </p:spPr>
            <p:txBody>
              <a:bodyPr vert="horz" lIns="91440" tIns="45720" rIns="91440" bIns="45720" rtlCol="0">
                <a:normAutofit/>
              </a:bodyPr>
              <a:lstStyle/>
              <a:p>
                <a:pPr algn="ctr"/>
                <a:r>
                  <a:rPr lang="en-US" b="1" dirty="0"/>
                  <a:t>Posterior from LDA</a:t>
                </a:r>
              </a:p>
              <a:p>
                <a:pPr algn="ctr"/>
                <a:endParaRPr lang="en-US" b="1" dirty="0"/>
              </a:p>
              <a:p>
                <a:pPr algn="ctr"/>
                <a:endParaRPr lang="en-US" b="1" dirty="0"/>
              </a:p>
              <a:p>
                <a14:m>
                  <m:oMathPara xmlns:m="http://schemas.openxmlformats.org/officeDocument/2006/math">
                    <m:oMathParaPr>
                      <m:jc m:val="centerGroup"/>
                    </m:oMathParaPr>
                    <m:oMath xmlns:m="http://schemas.openxmlformats.org/officeDocument/2006/math">
                      <m:r>
                        <a:rPr lang="en-US" i="1"/>
                        <m:t>𝑃</m:t>
                      </m:r>
                      <m:d>
                        <m:dPr>
                          <m:ctrlPr>
                            <a:rPr lang="ar-AE" i="1"/>
                          </m:ctrlPr>
                        </m:dPr>
                        <m:e>
                          <m:r>
                            <a:rPr lang="ar-AE" i="1"/>
                            <m:t>𝑌</m:t>
                          </m:r>
                          <m:r>
                            <a:rPr lang="ar-AE"/>
                            <m:t>=</m:t>
                          </m:r>
                          <m:r>
                            <a:rPr lang="ar-AE"/>
                            <m:t>1</m:t>
                          </m:r>
                          <m:r>
                            <a:rPr lang="ar-AE"/>
                            <m:t>∣</m:t>
                          </m:r>
                          <m:r>
                            <a:rPr lang="ar-AE" i="1"/>
                            <m:t>𝑥</m:t>
                          </m:r>
                        </m:e>
                      </m:d>
                      <m:r>
                        <a:rPr lang="ar-AE"/>
                        <m:t>=</m:t>
                      </m:r>
                      <m:f>
                        <m:fPr>
                          <m:ctrlPr>
                            <a:rPr lang="ar-AE" i="1"/>
                          </m:ctrlPr>
                        </m:fPr>
                        <m:num>
                          <m:sSup>
                            <m:sSupPr>
                              <m:ctrlPr>
                                <a:rPr lang="ar-AE" i="1"/>
                              </m:ctrlPr>
                            </m:sSupPr>
                            <m:e>
                              <m:r>
                                <a:rPr lang="ar-AE" i="1"/>
                                <m:t>𝑒</m:t>
                              </m:r>
                            </m:e>
                            <m:sup>
                              <m:sSub>
                                <m:sSubPr>
                                  <m:ctrlPr>
                                    <a:rPr lang="ar-AE" i="1"/>
                                  </m:ctrlPr>
                                </m:sSubPr>
                                <m:e>
                                  <m:r>
                                    <a:rPr lang="ar-AE" i="1"/>
                                    <m:t>𝛿</m:t>
                                  </m:r>
                                </m:e>
                                <m:sub>
                                  <m:r>
                                    <a:rPr lang="ar-AE"/>
                                    <m:t>1</m:t>
                                  </m:r>
                                </m:sub>
                              </m:sSub>
                              <m:d>
                                <m:dPr>
                                  <m:ctrlPr>
                                    <a:rPr lang="ar-AE" i="1"/>
                                  </m:ctrlPr>
                                </m:dPr>
                                <m:e>
                                  <m:r>
                                    <a:rPr lang="ar-AE" i="1"/>
                                    <m:t>𝑥</m:t>
                                  </m:r>
                                </m:e>
                              </m:d>
                            </m:sup>
                          </m:sSup>
                        </m:num>
                        <m:den>
                          <m:sSup>
                            <m:sSupPr>
                              <m:ctrlPr>
                                <a:rPr lang="ar-AE" i="1"/>
                              </m:ctrlPr>
                            </m:sSupPr>
                            <m:e>
                              <m:r>
                                <a:rPr lang="ar-AE" i="1"/>
                                <m:t>𝑒</m:t>
                              </m:r>
                            </m:e>
                            <m:sup>
                              <m:sSub>
                                <m:sSubPr>
                                  <m:ctrlPr>
                                    <a:rPr lang="ar-AE" i="1"/>
                                  </m:ctrlPr>
                                </m:sSubPr>
                                <m:e>
                                  <m:r>
                                    <a:rPr lang="ar-AE" i="1"/>
                                    <m:t>𝛿</m:t>
                                  </m:r>
                                </m:e>
                                <m:sub>
                                  <m:r>
                                    <a:rPr lang="ar-AE"/>
                                    <m:t>0</m:t>
                                  </m:r>
                                </m:sub>
                              </m:sSub>
                              <m:d>
                                <m:dPr>
                                  <m:ctrlPr>
                                    <a:rPr lang="ar-AE" i="1"/>
                                  </m:ctrlPr>
                                </m:dPr>
                                <m:e>
                                  <m:r>
                                    <a:rPr lang="ar-AE" i="1"/>
                                    <m:t>𝑥</m:t>
                                  </m:r>
                                </m:e>
                              </m:d>
                            </m:sup>
                          </m:sSup>
                          <m:r>
                            <a:rPr lang="ar-AE"/>
                            <m:t>+</m:t>
                          </m:r>
                          <m:sSup>
                            <m:sSupPr>
                              <m:ctrlPr>
                                <a:rPr lang="ar-AE" i="1"/>
                              </m:ctrlPr>
                            </m:sSupPr>
                            <m:e>
                              <m:r>
                                <a:rPr lang="ar-AE" i="1"/>
                                <m:t>𝑒</m:t>
                              </m:r>
                            </m:e>
                            <m:sup>
                              <m:sSub>
                                <m:sSubPr>
                                  <m:ctrlPr>
                                    <a:rPr lang="ar-AE" i="1"/>
                                  </m:ctrlPr>
                                </m:sSubPr>
                                <m:e>
                                  <m:r>
                                    <a:rPr lang="ar-AE" i="1"/>
                                    <m:t>𝛿</m:t>
                                  </m:r>
                                </m:e>
                                <m:sub>
                                  <m:r>
                                    <a:rPr lang="ar-AE"/>
                                    <m:t>1</m:t>
                                  </m:r>
                                </m:sub>
                              </m:sSub>
                              <m:d>
                                <m:dPr>
                                  <m:ctrlPr>
                                    <a:rPr lang="ar-AE" i="1"/>
                                  </m:ctrlPr>
                                </m:dPr>
                                <m:e>
                                  <m:r>
                                    <a:rPr lang="ar-AE" i="1"/>
                                    <m:t>𝑥</m:t>
                                  </m:r>
                                </m:e>
                              </m:d>
                            </m:sup>
                          </m:sSup>
                        </m:den>
                      </m:f>
                    </m:oMath>
                  </m:oMathPara>
                </a14:m>
                <a:endParaRPr lang="en-US" dirty="0"/>
              </a:p>
              <a:p>
                <a:endParaRPr lang="en-US" dirty="0"/>
              </a:p>
              <a:p>
                <a:endParaRPr lang="ar-AE" dirty="0"/>
              </a:p>
              <a:p>
                <a:r>
                  <a:rPr lang="en-US" dirty="0"/>
                  <a:t>Rewrite:</a:t>
                </a:r>
              </a:p>
              <a:p>
                <a14:m>
                  <m:oMathPara xmlns:m="http://schemas.openxmlformats.org/officeDocument/2006/math">
                    <m:oMathParaPr>
                      <m:jc m:val="centerGroup"/>
                    </m:oMathParaPr>
                    <m:oMath xmlns:m="http://schemas.openxmlformats.org/officeDocument/2006/math">
                      <m:r>
                        <a:rPr lang="en-US" i="1"/>
                        <m:t>𝑃</m:t>
                      </m:r>
                      <m:d>
                        <m:dPr>
                          <m:ctrlPr>
                            <a:rPr lang="ar-AE" i="1"/>
                          </m:ctrlPr>
                        </m:dPr>
                        <m:e>
                          <m:r>
                            <a:rPr lang="ar-AE" i="1"/>
                            <m:t>𝑌</m:t>
                          </m:r>
                          <m:r>
                            <a:rPr lang="ar-AE"/>
                            <m:t>=</m:t>
                          </m:r>
                          <m:r>
                            <a:rPr lang="ar-AE"/>
                            <m:t>1</m:t>
                          </m:r>
                          <m:r>
                            <a:rPr lang="ar-AE"/>
                            <m:t>∣</m:t>
                          </m:r>
                          <m:r>
                            <a:rPr lang="ar-AE" i="1"/>
                            <m:t>𝑥</m:t>
                          </m:r>
                        </m:e>
                      </m:d>
                      <m:r>
                        <a:rPr lang="ar-AE"/>
                        <m:t>=</m:t>
                      </m:r>
                      <m:f>
                        <m:fPr>
                          <m:ctrlPr>
                            <a:rPr lang="ar-AE" i="1"/>
                          </m:ctrlPr>
                        </m:fPr>
                        <m:num>
                          <m:r>
                            <a:rPr lang="ar-AE"/>
                            <m:t>1</m:t>
                          </m:r>
                        </m:num>
                        <m:den>
                          <m:r>
                            <a:rPr lang="ar-AE"/>
                            <m:t>1</m:t>
                          </m:r>
                          <m:r>
                            <a:rPr lang="ar-AE"/>
                            <m:t>+</m:t>
                          </m:r>
                          <m:sSup>
                            <m:sSupPr>
                              <m:ctrlPr>
                                <a:rPr lang="ar-AE" i="1"/>
                              </m:ctrlPr>
                            </m:sSupPr>
                            <m:e>
                              <m:r>
                                <a:rPr lang="ar-AE" i="1"/>
                                <m:t>𝑒</m:t>
                              </m:r>
                            </m:e>
                            <m:sup>
                              <m:r>
                                <a:rPr lang="ar-AE"/>
                                <m:t>−</m:t>
                              </m:r>
                              <m:d>
                                <m:dPr>
                                  <m:ctrlPr>
                                    <a:rPr lang="ar-AE" i="1"/>
                                  </m:ctrlPr>
                                </m:dPr>
                                <m:e>
                                  <m:sSub>
                                    <m:sSubPr>
                                      <m:ctrlPr>
                                        <a:rPr lang="ar-AE" i="1"/>
                                      </m:ctrlPr>
                                    </m:sSubPr>
                                    <m:e>
                                      <m:r>
                                        <a:rPr lang="ar-AE" i="1"/>
                                        <m:t>𝛿</m:t>
                                      </m:r>
                                    </m:e>
                                    <m:sub>
                                      <m:r>
                                        <a:rPr lang="ar-AE"/>
                                        <m:t>1</m:t>
                                      </m:r>
                                    </m:sub>
                                  </m:sSub>
                                  <m:d>
                                    <m:dPr>
                                      <m:ctrlPr>
                                        <a:rPr lang="ar-AE" i="1"/>
                                      </m:ctrlPr>
                                    </m:dPr>
                                    <m:e>
                                      <m:r>
                                        <a:rPr lang="ar-AE" i="1"/>
                                        <m:t>𝑥</m:t>
                                      </m:r>
                                    </m:e>
                                  </m:d>
                                  <m:r>
                                    <a:rPr lang="ar-AE"/>
                                    <m:t>−</m:t>
                                  </m:r>
                                  <m:sSub>
                                    <m:sSubPr>
                                      <m:ctrlPr>
                                        <a:rPr lang="ar-AE" i="1"/>
                                      </m:ctrlPr>
                                    </m:sSubPr>
                                    <m:e>
                                      <m:r>
                                        <a:rPr lang="ar-AE" i="1"/>
                                        <m:t>𝛿</m:t>
                                      </m:r>
                                    </m:e>
                                    <m:sub>
                                      <m:r>
                                        <a:rPr lang="ar-AE"/>
                                        <m:t>0</m:t>
                                      </m:r>
                                    </m:sub>
                                  </m:sSub>
                                  <m:d>
                                    <m:dPr>
                                      <m:ctrlPr>
                                        <a:rPr lang="ar-AE" i="1"/>
                                      </m:ctrlPr>
                                    </m:dPr>
                                    <m:e>
                                      <m:r>
                                        <a:rPr lang="ar-AE" i="1"/>
                                        <m:t>𝑥</m:t>
                                      </m:r>
                                    </m:e>
                                  </m:d>
                                </m:e>
                              </m:d>
                            </m:sup>
                          </m:sSup>
                        </m:den>
                      </m:f>
                    </m:oMath>
                  </m:oMathPara>
                </a14:m>
                <a:endParaRPr lang="ar-AE" dirty="0"/>
              </a:p>
              <a:p>
                <a:pPr algn="ctr"/>
                <a:endParaRPr lang="en-US" b="1" dirty="0"/>
              </a:p>
              <a:p>
                <a:pPr algn="ctr"/>
                <a:endParaRPr lang="en-US" dirty="0"/>
              </a:p>
            </p:txBody>
          </p:sp>
        </mc:Choice>
        <mc:Fallback>
          <p:sp>
            <p:nvSpPr>
              <p:cNvPr id="2" name="TextBox 1">
                <a:extLst>
                  <a:ext uri="{FF2B5EF4-FFF2-40B4-BE49-F238E27FC236}">
                    <a16:creationId xmlns:a16="http://schemas.microsoft.com/office/drawing/2014/main" id="{9E464B22-7190-DF8E-1BA5-3239BA75EBCD}"/>
                  </a:ext>
                </a:extLst>
              </p:cNvPr>
              <p:cNvSpPr txBox="1">
                <a:spLocks noRot="1" noChangeAspect="1" noMove="1" noResize="1" noEditPoints="1" noAdjustHandles="1" noChangeArrowheads="1" noChangeShapeType="1" noTextEdit="1"/>
              </p:cNvSpPr>
              <p:nvPr/>
            </p:nvSpPr>
            <p:spPr>
              <a:xfrm>
                <a:off x="589391" y="1472375"/>
                <a:ext cx="9659132" cy="3767328"/>
              </a:xfrm>
              <a:prstGeom prst="rect">
                <a:avLst/>
              </a:prstGeom>
              <a:blipFill>
                <a:blip r:embed="rId2"/>
                <a:stretch>
                  <a:fillRect l="-568" t="-971"/>
                </a:stretch>
              </a:blipFill>
            </p:spPr>
            <p:txBody>
              <a:bodyPr/>
              <a:lstStyle/>
              <a:p>
                <a:r>
                  <a:rPr lang="en-US">
                    <a:noFill/>
                  </a:rPr>
                  <a:t> </a:t>
                </a:r>
              </a:p>
            </p:txBody>
          </p:sp>
        </mc:Fallback>
      </mc:AlternateContent>
      <p:pic>
        <p:nvPicPr>
          <p:cNvPr id="3" name="Picture 2" descr="A blue text on a black background&#10;&#10;AI-generated content may be incorrect.">
            <a:extLst>
              <a:ext uri="{FF2B5EF4-FFF2-40B4-BE49-F238E27FC236}">
                <a16:creationId xmlns:a16="http://schemas.microsoft.com/office/drawing/2014/main" id="{B6B7895F-9E11-24DC-4F51-A3592596903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3877725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FBBC83-F7A3-B72F-65EE-53F321173AFE}"/>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5EA7BD34-DE84-C6EA-BC29-2B6A9B9D1C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169CC293-3D25-8E67-A68E-58C760FFB2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ACB4DFC-D5C3-5540-E2F7-C7370E695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02035E3-1224-4F03-0D92-D78375453964}"/>
                  </a:ext>
                </a:extLst>
              </p:cNvPr>
              <p:cNvSpPr txBox="1"/>
              <p:nvPr/>
            </p:nvSpPr>
            <p:spPr>
              <a:xfrm>
                <a:off x="589391" y="1472375"/>
                <a:ext cx="9659132" cy="3767328"/>
              </a:xfrm>
              <a:prstGeom prst="rect">
                <a:avLst/>
              </a:prstGeom>
            </p:spPr>
            <p:txBody>
              <a:bodyPr vert="horz" lIns="91440" tIns="45720" rIns="91440" bIns="45720" rtlCol="0">
                <a:normAutofit/>
              </a:bodyPr>
              <a:lstStyle/>
              <a:p>
                <a:pPr algn="ctr"/>
                <a:r>
                  <a:rPr lang="en-US" b="1" dirty="0"/>
                  <a:t>Logistic Form Appears</a:t>
                </a:r>
              </a:p>
              <a:p>
                <a:pPr algn="ctr"/>
                <a:endParaRPr lang="en-US" b="1" dirty="0"/>
              </a:p>
              <a:p>
                <a:pPr algn="ctr"/>
                <a:endParaRPr lang="en-US" b="1" dirty="0"/>
              </a:p>
              <a:p>
                <a:r>
                  <a:rPr lang="en-US" dirty="0"/>
                  <a:t>Let:</a:t>
                </a:r>
              </a:p>
              <a:p>
                <a14:m>
                  <m:oMathPara xmlns:m="http://schemas.openxmlformats.org/officeDocument/2006/math">
                    <m:oMathParaPr>
                      <m:jc m:val="centerGroup"/>
                    </m:oMathParaPr>
                    <m:oMath xmlns:m="http://schemas.openxmlformats.org/officeDocument/2006/math">
                      <m:sSub>
                        <m:sSubPr>
                          <m:ctrlPr>
                            <a:rPr lang="ar-AE"/>
                          </m:ctrlPr>
                        </m:sSubPr>
                        <m:e>
                          <m:r>
                            <a:rPr lang="ar-AE" i="1"/>
                            <m:t>𝛿</m:t>
                          </m:r>
                        </m:e>
                        <m:sub>
                          <m:r>
                            <a:rPr lang="ar-AE"/>
                            <m:t>1</m:t>
                          </m:r>
                        </m:sub>
                      </m:sSub>
                      <m:d>
                        <m:dPr>
                          <m:ctrlPr>
                            <a:rPr lang="ar-AE" i="1"/>
                          </m:ctrlPr>
                        </m:dPr>
                        <m:e>
                          <m:r>
                            <a:rPr lang="ar-AE" i="1"/>
                            <m:t>𝑥</m:t>
                          </m:r>
                        </m:e>
                      </m:d>
                      <m:r>
                        <a:rPr lang="ar-AE"/>
                        <m:t>−</m:t>
                      </m:r>
                      <m:sSub>
                        <m:sSubPr>
                          <m:ctrlPr>
                            <a:rPr lang="ar-AE" i="1"/>
                          </m:ctrlPr>
                        </m:sSubPr>
                        <m:e>
                          <m:r>
                            <a:rPr lang="ar-AE" i="1"/>
                            <m:t>𝛿</m:t>
                          </m:r>
                        </m:e>
                        <m:sub>
                          <m:r>
                            <a:rPr lang="ar-AE"/>
                            <m:t>0</m:t>
                          </m:r>
                        </m:sub>
                      </m:sSub>
                      <m:d>
                        <m:dPr>
                          <m:ctrlPr>
                            <a:rPr lang="ar-AE" i="1"/>
                          </m:ctrlPr>
                        </m:dPr>
                        <m:e>
                          <m:r>
                            <a:rPr lang="ar-AE" i="1"/>
                            <m:t>𝑥</m:t>
                          </m:r>
                        </m:e>
                      </m:d>
                      <m:r>
                        <a:rPr lang="ar-AE"/>
                        <m:t>=</m:t>
                      </m:r>
                      <m:sSub>
                        <m:sSubPr>
                          <m:ctrlPr>
                            <a:rPr lang="ar-AE" i="1"/>
                          </m:ctrlPr>
                        </m:sSubPr>
                        <m:e>
                          <m:r>
                            <a:rPr lang="ar-AE" i="1"/>
                            <m:t>𝛽</m:t>
                          </m:r>
                        </m:e>
                        <m:sub>
                          <m:r>
                            <a:rPr lang="ar-AE"/>
                            <m:t>0</m:t>
                          </m:r>
                        </m:sub>
                      </m:sSub>
                      <m:r>
                        <a:rPr lang="ar-AE"/>
                        <m:t>+</m:t>
                      </m:r>
                      <m:sSub>
                        <m:sSubPr>
                          <m:ctrlPr>
                            <a:rPr lang="ar-AE" i="1"/>
                          </m:ctrlPr>
                        </m:sSubPr>
                        <m:e>
                          <m:r>
                            <a:rPr lang="ar-AE" i="1"/>
                            <m:t>𝛽</m:t>
                          </m:r>
                        </m:e>
                        <m:sub>
                          <m:r>
                            <a:rPr lang="ar-AE"/>
                            <m:t>1</m:t>
                          </m:r>
                        </m:sub>
                      </m:sSub>
                      <m:r>
                        <a:rPr lang="ar-AE" i="1"/>
                        <m:t>𝑥</m:t>
                      </m:r>
                    </m:oMath>
                  </m:oMathPara>
                </a14:m>
                <a:endParaRPr lang="en-US" dirty="0"/>
              </a:p>
              <a:p>
                <a:endParaRPr lang="ar-AE" dirty="0"/>
              </a:p>
              <a:p>
                <a:r>
                  <a:rPr lang="en-US" dirty="0"/>
                  <a:t>Then:</a:t>
                </a:r>
              </a:p>
              <a:p>
                <a14:m>
                  <m:oMathPara xmlns:m="http://schemas.openxmlformats.org/officeDocument/2006/math">
                    <m:oMathParaPr>
                      <m:jc m:val="centerGroup"/>
                    </m:oMathParaPr>
                    <m:oMath xmlns:m="http://schemas.openxmlformats.org/officeDocument/2006/math">
                      <m:borderBox>
                        <m:borderBoxPr>
                          <m:ctrlPr>
                            <a:rPr lang="ar-AE"/>
                          </m:ctrlPr>
                        </m:borderBoxPr>
                        <m:e>
                          <m:r>
                            <a:rPr lang="ar-AE" i="1"/>
                            <m:t>𝑃</m:t>
                          </m:r>
                          <m:d>
                            <m:dPr>
                              <m:ctrlPr>
                                <a:rPr lang="ar-AE" i="1"/>
                              </m:ctrlPr>
                            </m:dPr>
                            <m:e>
                              <m:r>
                                <a:rPr lang="ar-AE" i="1"/>
                                <m:t>𝑌</m:t>
                              </m:r>
                              <m:r>
                                <a:rPr lang="ar-AE"/>
                                <m:t>=</m:t>
                              </m:r>
                              <m:r>
                                <a:rPr lang="ar-AE"/>
                                <m:t>1</m:t>
                              </m:r>
                              <m:r>
                                <a:rPr lang="ar-AE"/>
                                <m:t>∣</m:t>
                              </m:r>
                              <m:r>
                                <a:rPr lang="ar-AE" i="1"/>
                                <m:t>𝑥</m:t>
                              </m:r>
                            </m:e>
                          </m:d>
                          <m:r>
                            <a:rPr lang="ar-AE"/>
                            <m:t>=</m:t>
                          </m:r>
                          <m:f>
                            <m:fPr>
                              <m:ctrlPr>
                                <a:rPr lang="ar-AE" i="1"/>
                              </m:ctrlPr>
                            </m:fPr>
                            <m:num>
                              <m:r>
                                <a:rPr lang="ar-AE"/>
                                <m:t>1</m:t>
                              </m:r>
                            </m:num>
                            <m:den>
                              <m:r>
                                <a:rPr lang="ar-AE"/>
                                <m:t>1</m:t>
                              </m:r>
                              <m:r>
                                <a:rPr lang="ar-AE"/>
                                <m:t>+</m:t>
                              </m:r>
                              <m:sSup>
                                <m:sSupPr>
                                  <m:ctrlPr>
                                    <a:rPr lang="ar-AE" i="1"/>
                                  </m:ctrlPr>
                                </m:sSupPr>
                                <m:e>
                                  <m:r>
                                    <a:rPr lang="ar-AE" i="1"/>
                                    <m:t>𝑒</m:t>
                                  </m:r>
                                </m:e>
                                <m:sup>
                                  <m:r>
                                    <a:rPr lang="ar-AE"/>
                                    <m:t>−</m:t>
                                  </m:r>
                                  <m:d>
                                    <m:dPr>
                                      <m:ctrlPr>
                                        <a:rPr lang="ar-AE" i="1"/>
                                      </m:ctrlPr>
                                    </m:dPr>
                                    <m:e>
                                      <m:sSub>
                                        <m:sSubPr>
                                          <m:ctrlPr>
                                            <a:rPr lang="ar-AE" i="1"/>
                                          </m:ctrlPr>
                                        </m:sSubPr>
                                        <m:e>
                                          <m:r>
                                            <a:rPr lang="ar-AE" i="1"/>
                                            <m:t>𝛽</m:t>
                                          </m:r>
                                        </m:e>
                                        <m:sub>
                                          <m:r>
                                            <a:rPr lang="ar-AE"/>
                                            <m:t>0</m:t>
                                          </m:r>
                                        </m:sub>
                                      </m:sSub>
                                      <m:r>
                                        <a:rPr lang="ar-AE"/>
                                        <m:t>+</m:t>
                                      </m:r>
                                      <m:sSub>
                                        <m:sSubPr>
                                          <m:ctrlPr>
                                            <a:rPr lang="ar-AE" i="1"/>
                                          </m:ctrlPr>
                                        </m:sSubPr>
                                        <m:e>
                                          <m:r>
                                            <a:rPr lang="ar-AE" i="1"/>
                                            <m:t>𝛽</m:t>
                                          </m:r>
                                        </m:e>
                                        <m:sub>
                                          <m:r>
                                            <a:rPr lang="ar-AE"/>
                                            <m:t>1</m:t>
                                          </m:r>
                                        </m:sub>
                                      </m:sSub>
                                      <m:r>
                                        <a:rPr lang="ar-AE" i="1"/>
                                        <m:t>𝑥</m:t>
                                      </m:r>
                                    </m:e>
                                  </m:d>
                                </m:sup>
                              </m:sSup>
                            </m:den>
                          </m:f>
                        </m:e>
                      </m:borderBox>
                    </m:oMath>
                  </m:oMathPara>
                </a14:m>
                <a:endParaRPr lang="en-US" dirty="0"/>
              </a:p>
              <a:p>
                <a:endParaRPr lang="en-US" dirty="0"/>
              </a:p>
              <a:p>
                <a:endParaRPr lang="ar-AE" dirty="0"/>
              </a:p>
              <a:p>
                <a:r>
                  <a:rPr lang="en-US" dirty="0"/>
                  <a:t>This is logistic regression</a:t>
                </a:r>
              </a:p>
              <a:p>
                <a:pPr algn="ctr"/>
                <a:endParaRPr lang="en-US" dirty="0"/>
              </a:p>
            </p:txBody>
          </p:sp>
        </mc:Choice>
        <mc:Fallback>
          <p:sp>
            <p:nvSpPr>
              <p:cNvPr id="2" name="TextBox 1">
                <a:extLst>
                  <a:ext uri="{FF2B5EF4-FFF2-40B4-BE49-F238E27FC236}">
                    <a16:creationId xmlns:a16="http://schemas.microsoft.com/office/drawing/2014/main" id="{302035E3-1224-4F03-0D92-D78375453964}"/>
                  </a:ext>
                </a:extLst>
              </p:cNvPr>
              <p:cNvSpPr txBox="1">
                <a:spLocks noRot="1" noChangeAspect="1" noMove="1" noResize="1" noEditPoints="1" noAdjustHandles="1" noChangeArrowheads="1" noChangeShapeType="1" noTextEdit="1"/>
              </p:cNvSpPr>
              <p:nvPr/>
            </p:nvSpPr>
            <p:spPr>
              <a:xfrm>
                <a:off x="589391" y="1472375"/>
                <a:ext cx="9659132" cy="3767328"/>
              </a:xfrm>
              <a:prstGeom prst="rect">
                <a:avLst/>
              </a:prstGeom>
              <a:blipFill>
                <a:blip r:embed="rId2"/>
                <a:stretch>
                  <a:fillRect l="-568" t="-971"/>
                </a:stretch>
              </a:blipFill>
            </p:spPr>
            <p:txBody>
              <a:bodyPr/>
              <a:lstStyle/>
              <a:p>
                <a:r>
                  <a:rPr lang="en-US">
                    <a:noFill/>
                  </a:rPr>
                  <a:t> </a:t>
                </a:r>
              </a:p>
            </p:txBody>
          </p:sp>
        </mc:Fallback>
      </mc:AlternateContent>
      <p:pic>
        <p:nvPicPr>
          <p:cNvPr id="3" name="Picture 2" descr="A blue text on a black background&#10;&#10;AI-generated content may be incorrect.">
            <a:extLst>
              <a:ext uri="{FF2B5EF4-FFF2-40B4-BE49-F238E27FC236}">
                <a16:creationId xmlns:a16="http://schemas.microsoft.com/office/drawing/2014/main" id="{7ED2FA92-8E0F-6716-E870-D1752FB478DF}"/>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201280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933AE0-79E8-D060-DE79-135E4F858037}"/>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38DA0455-DB2E-A738-B548-C3A79FA278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3FFFE336-D662-CE10-6BEE-4C35975737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7DDD521-BB77-97D8-8CB3-7D68795EC9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04398DFB-4F8C-3A9D-963A-360CBD419076}"/>
                  </a:ext>
                </a:extLst>
              </p:cNvPr>
              <p:cNvSpPr txBox="1"/>
              <p:nvPr/>
            </p:nvSpPr>
            <p:spPr>
              <a:xfrm>
                <a:off x="589391" y="1472375"/>
                <a:ext cx="9659132" cy="3767328"/>
              </a:xfrm>
              <a:prstGeom prst="rect">
                <a:avLst/>
              </a:prstGeom>
            </p:spPr>
            <p:txBody>
              <a:bodyPr vert="horz" lIns="91440" tIns="45720" rIns="91440" bIns="45720" rtlCol="0">
                <a:normAutofit/>
              </a:bodyPr>
              <a:lstStyle/>
              <a:p>
                <a:pPr algn="ctr"/>
                <a:r>
                  <a:rPr lang="en-US" b="1" dirty="0"/>
                  <a:t>Logistic Regression Connection</a:t>
                </a:r>
              </a:p>
              <a:p>
                <a:pPr algn="ctr"/>
                <a:endParaRPr lang="en-US" b="1" dirty="0"/>
              </a:p>
              <a:p>
                <a:pPr algn="ctr"/>
                <a:endParaRPr lang="en-US" b="1" dirty="0"/>
              </a:p>
              <a:p>
                <a:r>
                  <a:rPr lang="en-US" dirty="0"/>
                  <a:t>Logistic model:</a:t>
                </a:r>
              </a:p>
              <a:p>
                <a14:m>
                  <m:oMathPara xmlns:m="http://schemas.openxmlformats.org/officeDocument/2006/math">
                    <m:oMathParaPr>
                      <m:jc m:val="centerGroup"/>
                    </m:oMathParaPr>
                    <m:oMath xmlns:m="http://schemas.openxmlformats.org/officeDocument/2006/math">
                      <m:func>
                        <m:funcPr>
                          <m:ctrlPr>
                            <a:rPr lang="ar-AE"/>
                          </m:ctrlPr>
                        </m:funcPr>
                        <m:fName>
                          <m:r>
                            <m:rPr>
                              <m:sty m:val="p"/>
                            </m:rPr>
                            <a:rPr lang="en-US"/>
                            <m:t>log</m:t>
                          </m:r>
                        </m:fName>
                        <m:e>
                          <m:f>
                            <m:fPr>
                              <m:ctrlPr>
                                <a:rPr lang="ar-AE" i="1"/>
                              </m:ctrlPr>
                            </m:fPr>
                            <m:num>
                              <m:r>
                                <a:rPr lang="ar-AE" i="1"/>
                                <m:t>𝑃</m:t>
                              </m:r>
                              <m:d>
                                <m:dPr>
                                  <m:ctrlPr>
                                    <a:rPr lang="ar-AE" i="1"/>
                                  </m:ctrlPr>
                                </m:dPr>
                                <m:e>
                                  <m:r>
                                    <a:rPr lang="ar-AE" i="1"/>
                                    <m:t>𝑌</m:t>
                                  </m:r>
                                  <m:r>
                                    <a:rPr lang="ar-AE"/>
                                    <m:t>=</m:t>
                                  </m:r>
                                  <m:r>
                                    <a:rPr lang="ar-AE"/>
                                    <m:t>1</m:t>
                                  </m:r>
                                  <m:r>
                                    <a:rPr lang="ar-AE"/>
                                    <m:t>∣</m:t>
                                  </m:r>
                                  <m:r>
                                    <a:rPr lang="ar-AE" i="1"/>
                                    <m:t>𝑥</m:t>
                                  </m:r>
                                </m:e>
                              </m:d>
                            </m:num>
                            <m:den>
                              <m:r>
                                <a:rPr lang="ar-AE" i="1"/>
                                <m:t>𝑃</m:t>
                              </m:r>
                              <m:d>
                                <m:dPr>
                                  <m:ctrlPr>
                                    <a:rPr lang="ar-AE" i="1"/>
                                  </m:ctrlPr>
                                </m:dPr>
                                <m:e>
                                  <m:r>
                                    <a:rPr lang="ar-AE" i="1"/>
                                    <m:t>𝑌</m:t>
                                  </m:r>
                                  <m:r>
                                    <a:rPr lang="ar-AE"/>
                                    <m:t>=</m:t>
                                  </m:r>
                                  <m:r>
                                    <a:rPr lang="ar-AE"/>
                                    <m:t>0</m:t>
                                  </m:r>
                                  <m:r>
                                    <a:rPr lang="ar-AE"/>
                                    <m:t>∣</m:t>
                                  </m:r>
                                  <m:r>
                                    <a:rPr lang="ar-AE" i="1"/>
                                    <m:t>𝑥</m:t>
                                  </m:r>
                                </m:e>
                              </m:d>
                            </m:den>
                          </m:f>
                        </m:e>
                      </m:func>
                      <m:r>
                        <a:rPr lang="ar-AE"/>
                        <m:t>=</m:t>
                      </m:r>
                      <m:sSub>
                        <m:sSubPr>
                          <m:ctrlPr>
                            <a:rPr lang="ar-AE" i="1"/>
                          </m:ctrlPr>
                        </m:sSubPr>
                        <m:e>
                          <m:r>
                            <a:rPr lang="ar-AE" i="1"/>
                            <m:t>𝛽</m:t>
                          </m:r>
                        </m:e>
                        <m:sub>
                          <m:r>
                            <a:rPr lang="ar-AE"/>
                            <m:t>0</m:t>
                          </m:r>
                        </m:sub>
                      </m:sSub>
                      <m:r>
                        <a:rPr lang="ar-AE"/>
                        <m:t>+</m:t>
                      </m:r>
                      <m:sSub>
                        <m:sSubPr>
                          <m:ctrlPr>
                            <a:rPr lang="ar-AE" i="1"/>
                          </m:ctrlPr>
                        </m:sSubPr>
                        <m:e>
                          <m:r>
                            <a:rPr lang="ar-AE" i="1"/>
                            <m:t>𝛽</m:t>
                          </m:r>
                        </m:e>
                        <m:sub>
                          <m:r>
                            <a:rPr lang="ar-AE"/>
                            <m:t>1</m:t>
                          </m:r>
                        </m:sub>
                      </m:sSub>
                      <m:r>
                        <a:rPr lang="ar-AE" i="1"/>
                        <m:t>𝑥</m:t>
                      </m:r>
                    </m:oMath>
                  </m:oMathPara>
                </a14:m>
                <a:endParaRPr lang="en-US" dirty="0"/>
              </a:p>
              <a:p>
                <a:endParaRPr lang="en-US" dirty="0"/>
              </a:p>
              <a:p>
                <a:endParaRPr lang="ar-AE" dirty="0"/>
              </a:p>
              <a:p>
                <a:r>
                  <a:rPr lang="en-US" dirty="0"/>
                  <a:t>Same as:</a:t>
                </a:r>
              </a:p>
              <a:p>
                <a14:m>
                  <m:oMathPara xmlns:m="http://schemas.openxmlformats.org/officeDocument/2006/math">
                    <m:oMathParaPr>
                      <m:jc m:val="centerGroup"/>
                    </m:oMathParaPr>
                    <m:oMath xmlns:m="http://schemas.openxmlformats.org/officeDocument/2006/math">
                      <m:func>
                        <m:funcPr>
                          <m:ctrlPr>
                            <a:rPr lang="ar-AE"/>
                          </m:ctrlPr>
                        </m:funcPr>
                        <m:fName>
                          <m:r>
                            <m:rPr>
                              <m:sty m:val="p"/>
                            </m:rPr>
                            <a:rPr lang="en-US"/>
                            <m:t>log</m:t>
                          </m:r>
                        </m:fName>
                        <m:e>
                          <m:f>
                            <m:fPr>
                              <m:ctrlPr>
                                <a:rPr lang="ar-AE" i="1"/>
                              </m:ctrlPr>
                            </m:fPr>
                            <m:num>
                              <m:sSub>
                                <m:sSubPr>
                                  <m:ctrlPr>
                                    <a:rPr lang="ar-AE" i="1"/>
                                  </m:ctrlPr>
                                </m:sSubPr>
                                <m:e>
                                  <m:r>
                                    <a:rPr lang="ar-AE" i="1"/>
                                    <m:t>𝜋</m:t>
                                  </m:r>
                                </m:e>
                                <m:sub>
                                  <m:r>
                                    <a:rPr lang="ar-AE"/>
                                    <m:t>1</m:t>
                                  </m:r>
                                </m:sub>
                              </m:sSub>
                              <m:sSub>
                                <m:sSubPr>
                                  <m:ctrlPr>
                                    <a:rPr lang="ar-AE" i="1"/>
                                  </m:ctrlPr>
                                </m:sSubPr>
                                <m:e>
                                  <m:r>
                                    <a:rPr lang="ar-AE" i="1"/>
                                    <m:t>𝑓</m:t>
                                  </m:r>
                                </m:e>
                                <m:sub>
                                  <m:r>
                                    <a:rPr lang="ar-AE"/>
                                    <m:t>1</m:t>
                                  </m:r>
                                </m:sub>
                              </m:sSub>
                              <m:d>
                                <m:dPr>
                                  <m:ctrlPr>
                                    <a:rPr lang="ar-AE" i="1"/>
                                  </m:ctrlPr>
                                </m:dPr>
                                <m:e>
                                  <m:r>
                                    <a:rPr lang="ar-AE" i="1"/>
                                    <m:t>𝑥</m:t>
                                  </m:r>
                                </m:e>
                              </m:d>
                            </m:num>
                            <m:den>
                              <m:sSub>
                                <m:sSubPr>
                                  <m:ctrlPr>
                                    <a:rPr lang="ar-AE" i="1"/>
                                  </m:ctrlPr>
                                </m:sSubPr>
                                <m:e>
                                  <m:r>
                                    <a:rPr lang="ar-AE" i="1"/>
                                    <m:t>𝜋</m:t>
                                  </m:r>
                                </m:e>
                                <m:sub>
                                  <m:r>
                                    <a:rPr lang="ar-AE"/>
                                    <m:t>0</m:t>
                                  </m:r>
                                </m:sub>
                              </m:sSub>
                              <m:sSub>
                                <m:sSubPr>
                                  <m:ctrlPr>
                                    <a:rPr lang="ar-AE" i="1"/>
                                  </m:ctrlPr>
                                </m:sSubPr>
                                <m:e>
                                  <m:r>
                                    <a:rPr lang="ar-AE" i="1"/>
                                    <m:t>𝑓</m:t>
                                  </m:r>
                                </m:e>
                                <m:sub>
                                  <m:r>
                                    <a:rPr lang="ar-AE"/>
                                    <m:t>0</m:t>
                                  </m:r>
                                </m:sub>
                              </m:sSub>
                              <m:d>
                                <m:dPr>
                                  <m:ctrlPr>
                                    <a:rPr lang="ar-AE" i="1"/>
                                  </m:ctrlPr>
                                </m:dPr>
                                <m:e>
                                  <m:r>
                                    <a:rPr lang="ar-AE" i="1"/>
                                    <m:t>𝑥</m:t>
                                  </m:r>
                                </m:e>
                              </m:d>
                            </m:den>
                          </m:f>
                        </m:e>
                      </m:func>
                    </m:oMath>
                  </m:oMathPara>
                </a14:m>
                <a:endParaRPr lang="ar-AE" dirty="0"/>
              </a:p>
              <a:p>
                <a:pPr algn="ctr"/>
                <a:endParaRPr lang="en-US" dirty="0"/>
              </a:p>
            </p:txBody>
          </p:sp>
        </mc:Choice>
        <mc:Fallback>
          <p:sp>
            <p:nvSpPr>
              <p:cNvPr id="2" name="TextBox 1">
                <a:extLst>
                  <a:ext uri="{FF2B5EF4-FFF2-40B4-BE49-F238E27FC236}">
                    <a16:creationId xmlns:a16="http://schemas.microsoft.com/office/drawing/2014/main" id="{04398DFB-4F8C-3A9D-963A-360CBD419076}"/>
                  </a:ext>
                </a:extLst>
              </p:cNvPr>
              <p:cNvSpPr txBox="1">
                <a:spLocks noRot="1" noChangeAspect="1" noMove="1" noResize="1" noEditPoints="1" noAdjustHandles="1" noChangeArrowheads="1" noChangeShapeType="1" noTextEdit="1"/>
              </p:cNvSpPr>
              <p:nvPr/>
            </p:nvSpPr>
            <p:spPr>
              <a:xfrm>
                <a:off x="589391" y="1472375"/>
                <a:ext cx="9659132" cy="3767328"/>
              </a:xfrm>
              <a:prstGeom prst="rect">
                <a:avLst/>
              </a:prstGeom>
              <a:blipFill>
                <a:blip r:embed="rId2"/>
                <a:stretch>
                  <a:fillRect l="-568" t="-971"/>
                </a:stretch>
              </a:blipFill>
            </p:spPr>
            <p:txBody>
              <a:bodyPr/>
              <a:lstStyle/>
              <a:p>
                <a:r>
                  <a:rPr lang="en-US">
                    <a:noFill/>
                  </a:rPr>
                  <a:t> </a:t>
                </a:r>
              </a:p>
            </p:txBody>
          </p:sp>
        </mc:Fallback>
      </mc:AlternateContent>
      <p:pic>
        <p:nvPicPr>
          <p:cNvPr id="3" name="Picture 2" descr="A blue text on a black background&#10;&#10;AI-generated content may be incorrect.">
            <a:extLst>
              <a:ext uri="{FF2B5EF4-FFF2-40B4-BE49-F238E27FC236}">
                <a16:creationId xmlns:a16="http://schemas.microsoft.com/office/drawing/2014/main" id="{D46A9E03-AC33-DDC0-DA6D-7F1D744EA20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2015693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D89E27-3CB7-7CCB-A75F-7B2D08030572}"/>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1935EB6A-D4D7-F75D-F618-2E52A53C59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CEF83525-DD98-BA87-9267-6906B6B28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56EAADB-D956-21FF-949B-09DCE2E068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CF3F35BF-0228-46E5-20D8-12F10F377699}"/>
                  </a:ext>
                </a:extLst>
              </p:cNvPr>
              <p:cNvSpPr txBox="1"/>
              <p:nvPr/>
            </p:nvSpPr>
            <p:spPr>
              <a:xfrm>
                <a:off x="589391" y="1472375"/>
                <a:ext cx="9659132" cy="3767328"/>
              </a:xfrm>
              <a:prstGeom prst="rect">
                <a:avLst/>
              </a:prstGeom>
            </p:spPr>
            <p:txBody>
              <a:bodyPr vert="horz" lIns="91440" tIns="45720" rIns="91440" bIns="45720" rtlCol="0">
                <a:normAutofit/>
              </a:bodyPr>
              <a:lstStyle/>
              <a:p>
                <a:pPr algn="ctr"/>
                <a:r>
                  <a:rPr lang="en-US" b="1" dirty="0"/>
                  <a:t>Unification</a:t>
                </a:r>
              </a:p>
              <a:p>
                <a:pPr algn="ctr"/>
                <a:endParaRPr lang="en-US" b="1" dirty="0"/>
              </a:p>
              <a:p>
                <a:r>
                  <a:rPr lang="en-US" dirty="0"/>
                  <a:t>All three approaches yield:</a:t>
                </a:r>
              </a:p>
              <a:p>
                <a14:m>
                  <m:oMathPara xmlns:m="http://schemas.openxmlformats.org/officeDocument/2006/math">
                    <m:oMathParaPr>
                      <m:jc m:val="centerGroup"/>
                    </m:oMathParaPr>
                    <m:oMath xmlns:m="http://schemas.openxmlformats.org/officeDocument/2006/math">
                      <m:r>
                        <m:rPr>
                          <m:nor/>
                        </m:rPr>
                        <a:rPr lang="en-US" b="0"/>
                        <m:t>Decision</m:t>
                      </m:r>
                      <m:r>
                        <m:rPr>
                          <m:nor/>
                        </m:rPr>
                        <a:rPr lang="en-US" b="0" i="1"/>
                        <m:t> </m:t>
                      </m:r>
                      <m:r>
                        <m:rPr>
                          <m:nor/>
                        </m:rPr>
                        <a:rPr lang="en-US" b="0" i="1"/>
                        <m:t>rule</m:t>
                      </m:r>
                      <m:r>
                        <m:rPr>
                          <m:nor/>
                        </m:rPr>
                        <a:rPr lang="en-US" b="0" i="1"/>
                        <m:t> </m:t>
                      </m:r>
                      <m:r>
                        <m:rPr>
                          <m:nor/>
                        </m:rPr>
                        <a:rPr lang="en-US" b="0" i="1"/>
                        <m:t>based</m:t>
                      </m:r>
                      <m:r>
                        <m:rPr>
                          <m:nor/>
                        </m:rPr>
                        <a:rPr lang="en-US" b="0" i="1"/>
                        <m:t> </m:t>
                      </m:r>
                      <m:r>
                        <m:rPr>
                          <m:nor/>
                        </m:rPr>
                        <a:rPr lang="en-US" b="0" i="1"/>
                        <m:t>on</m:t>
                      </m:r>
                      <m:r>
                        <m:rPr>
                          <m:nor/>
                        </m:rPr>
                        <a:rPr lang="en-US" b="0" i="1"/>
                        <m:t> </m:t>
                      </m:r>
                      <m:func>
                        <m:funcPr>
                          <m:ctrlPr>
                            <a:rPr lang="ar-AE" i="1"/>
                          </m:ctrlPr>
                        </m:funcPr>
                        <m:fName>
                          <m:r>
                            <m:rPr>
                              <m:sty m:val="p"/>
                            </m:rPr>
                            <a:rPr lang="en-US"/>
                            <m:t>log</m:t>
                          </m:r>
                        </m:fName>
                        <m:e>
                          <m:f>
                            <m:fPr>
                              <m:ctrlPr>
                                <a:rPr lang="ar-AE" i="1"/>
                              </m:ctrlPr>
                            </m:fPr>
                            <m:num>
                              <m:sSub>
                                <m:sSubPr>
                                  <m:ctrlPr>
                                    <a:rPr lang="ar-AE" i="1"/>
                                  </m:ctrlPr>
                                </m:sSubPr>
                                <m:e>
                                  <m:r>
                                    <a:rPr lang="ar-AE" i="1"/>
                                    <m:t>𝑓</m:t>
                                  </m:r>
                                </m:e>
                                <m:sub>
                                  <m:r>
                                    <a:rPr lang="ar-AE"/>
                                    <m:t>1</m:t>
                                  </m:r>
                                </m:sub>
                              </m:sSub>
                              <m:d>
                                <m:dPr>
                                  <m:ctrlPr>
                                    <a:rPr lang="ar-AE" i="1"/>
                                  </m:ctrlPr>
                                </m:dPr>
                                <m:e>
                                  <m:r>
                                    <a:rPr lang="ar-AE" i="1"/>
                                    <m:t>𝑥</m:t>
                                  </m:r>
                                </m:e>
                              </m:d>
                            </m:num>
                            <m:den>
                              <m:sSub>
                                <m:sSubPr>
                                  <m:ctrlPr>
                                    <a:rPr lang="ar-AE" i="1"/>
                                  </m:ctrlPr>
                                </m:sSubPr>
                                <m:e>
                                  <m:r>
                                    <a:rPr lang="ar-AE" i="1"/>
                                    <m:t>𝑓</m:t>
                                  </m:r>
                                </m:e>
                                <m:sub>
                                  <m:r>
                                    <a:rPr lang="ar-AE"/>
                                    <m:t>0</m:t>
                                  </m:r>
                                </m:sub>
                              </m:sSub>
                              <m:d>
                                <m:dPr>
                                  <m:ctrlPr>
                                    <a:rPr lang="ar-AE" i="1"/>
                                  </m:ctrlPr>
                                </m:dPr>
                                <m:e>
                                  <m:r>
                                    <a:rPr lang="ar-AE" i="1"/>
                                    <m:t>𝑥</m:t>
                                  </m:r>
                                </m:e>
                              </m:d>
                            </m:den>
                          </m:f>
                        </m:e>
                      </m:func>
                    </m:oMath>
                  </m:oMathPara>
                </a14:m>
                <a:endParaRPr lang="en-US" b="0" dirty="0"/>
              </a:p>
            </p:txBody>
          </p:sp>
        </mc:Choice>
        <mc:Fallback>
          <p:sp>
            <p:nvSpPr>
              <p:cNvPr id="2" name="TextBox 1">
                <a:extLst>
                  <a:ext uri="{FF2B5EF4-FFF2-40B4-BE49-F238E27FC236}">
                    <a16:creationId xmlns:a16="http://schemas.microsoft.com/office/drawing/2014/main" id="{CF3F35BF-0228-46E5-20D8-12F10F377699}"/>
                  </a:ext>
                </a:extLst>
              </p:cNvPr>
              <p:cNvSpPr txBox="1">
                <a:spLocks noRot="1" noChangeAspect="1" noMove="1" noResize="1" noEditPoints="1" noAdjustHandles="1" noChangeArrowheads="1" noChangeShapeType="1" noTextEdit="1"/>
              </p:cNvSpPr>
              <p:nvPr/>
            </p:nvSpPr>
            <p:spPr>
              <a:xfrm>
                <a:off x="589391" y="1472375"/>
                <a:ext cx="9659132" cy="3767328"/>
              </a:xfrm>
              <a:prstGeom prst="rect">
                <a:avLst/>
              </a:prstGeom>
              <a:blipFill>
                <a:blip r:embed="rId2"/>
                <a:stretch>
                  <a:fillRect l="-568" t="-971"/>
                </a:stretch>
              </a:blipFill>
            </p:spPr>
            <p:txBody>
              <a:bodyPr/>
              <a:lstStyle/>
              <a:p>
                <a:r>
                  <a:rPr lang="en-US">
                    <a:noFill/>
                  </a:rPr>
                  <a:t> </a:t>
                </a:r>
              </a:p>
            </p:txBody>
          </p:sp>
        </mc:Fallback>
      </mc:AlternateContent>
      <p:pic>
        <p:nvPicPr>
          <p:cNvPr id="3" name="Picture 2" descr="A blue text on a black background&#10;&#10;AI-generated content may be incorrect.">
            <a:extLst>
              <a:ext uri="{FF2B5EF4-FFF2-40B4-BE49-F238E27FC236}">
                <a16:creationId xmlns:a16="http://schemas.microsoft.com/office/drawing/2014/main" id="{0AF15B48-9A10-3713-5E31-F4EF10AC6F8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graphicFrame>
        <p:nvGraphicFramePr>
          <p:cNvPr id="6" name="Table 5">
            <a:extLst>
              <a:ext uri="{FF2B5EF4-FFF2-40B4-BE49-F238E27FC236}">
                <a16:creationId xmlns:a16="http://schemas.microsoft.com/office/drawing/2014/main" id="{6248ECA7-4D71-772C-1387-01013196D3AC}"/>
              </a:ext>
            </a:extLst>
          </p:cNvPr>
          <p:cNvGraphicFramePr>
            <a:graphicFrameLocks noGrp="1"/>
          </p:cNvGraphicFramePr>
          <p:nvPr>
            <p:extLst>
              <p:ext uri="{D42A27DB-BD31-4B8C-83A1-F6EECF244321}">
                <p14:modId xmlns:p14="http://schemas.microsoft.com/office/powerpoint/2010/main" val="3610903214"/>
              </p:ext>
            </p:extLst>
          </p:nvPr>
        </p:nvGraphicFramePr>
        <p:xfrm>
          <a:off x="514133" y="3428997"/>
          <a:ext cx="10820806" cy="1463040"/>
        </p:xfrm>
        <a:graphic>
          <a:graphicData uri="http://schemas.openxmlformats.org/drawingml/2006/table">
            <a:tbl>
              <a:tblPr/>
              <a:tblGrid>
                <a:gridCol w="5410403">
                  <a:extLst>
                    <a:ext uri="{9D8B030D-6E8A-4147-A177-3AD203B41FA5}">
                      <a16:colId xmlns:a16="http://schemas.microsoft.com/office/drawing/2014/main" val="1534176224"/>
                    </a:ext>
                  </a:extLst>
                </a:gridCol>
                <a:gridCol w="5410403">
                  <a:extLst>
                    <a:ext uri="{9D8B030D-6E8A-4147-A177-3AD203B41FA5}">
                      <a16:colId xmlns:a16="http://schemas.microsoft.com/office/drawing/2014/main" val="309181156"/>
                    </a:ext>
                  </a:extLst>
                </a:gridCol>
              </a:tblGrid>
              <a:tr h="0">
                <a:tc>
                  <a:txBody>
                    <a:bodyPr/>
                    <a:lstStyle/>
                    <a:p>
                      <a:pPr>
                        <a:buNone/>
                      </a:pPr>
                      <a:r>
                        <a:rPr lang="en-US" b="1" dirty="0"/>
                        <a:t>Framework</a:t>
                      </a:r>
                    </a:p>
                  </a:txBody>
                  <a:tcPr anchor="ctr">
                    <a:lnL>
                      <a:noFill/>
                    </a:lnL>
                    <a:lnR>
                      <a:noFill/>
                    </a:lnR>
                    <a:lnT>
                      <a:noFill/>
                    </a:lnT>
                    <a:lnB>
                      <a:noFill/>
                    </a:lnB>
                    <a:noFill/>
                  </a:tcPr>
                </a:tc>
                <a:tc>
                  <a:txBody>
                    <a:bodyPr/>
                    <a:lstStyle/>
                    <a:p>
                      <a:pPr>
                        <a:buNone/>
                      </a:pPr>
                      <a:r>
                        <a:rPr lang="en-US" b="1" dirty="0"/>
                        <a:t>Interpretation</a:t>
                      </a:r>
                    </a:p>
                  </a:txBody>
                  <a:tcPr anchor="ctr">
                    <a:lnL>
                      <a:noFill/>
                    </a:lnL>
                    <a:lnR>
                      <a:noFill/>
                    </a:lnR>
                    <a:lnT>
                      <a:noFill/>
                    </a:lnT>
                    <a:lnB>
                      <a:noFill/>
                    </a:lnB>
                    <a:noFill/>
                  </a:tcPr>
                </a:tc>
                <a:extLst>
                  <a:ext uri="{0D108BD9-81ED-4DB2-BD59-A6C34878D82A}">
                    <a16:rowId xmlns:a16="http://schemas.microsoft.com/office/drawing/2014/main" val="3088424607"/>
                  </a:ext>
                </a:extLst>
              </a:tr>
              <a:tr h="0">
                <a:tc>
                  <a:txBody>
                    <a:bodyPr/>
                    <a:lstStyle/>
                    <a:p>
                      <a:pPr>
                        <a:buNone/>
                      </a:pPr>
                      <a:r>
                        <a:rPr lang="en-US"/>
                        <a:t>Bayesian</a:t>
                      </a:r>
                    </a:p>
                  </a:txBody>
                  <a:tcPr anchor="ctr">
                    <a:lnL>
                      <a:noFill/>
                    </a:lnL>
                    <a:lnR>
                      <a:noFill/>
                    </a:lnR>
                    <a:lnT>
                      <a:noFill/>
                    </a:lnT>
                    <a:lnB>
                      <a:noFill/>
                    </a:lnB>
                    <a:noFill/>
                  </a:tcPr>
                </a:tc>
                <a:tc>
                  <a:txBody>
                    <a:bodyPr/>
                    <a:lstStyle/>
                    <a:p>
                      <a:pPr>
                        <a:buNone/>
                      </a:pPr>
                      <a:r>
                        <a:rPr lang="en-US" dirty="0"/>
                        <a:t>Posterior probability (probability of class)</a:t>
                      </a:r>
                    </a:p>
                  </a:txBody>
                  <a:tcPr anchor="ctr">
                    <a:lnL>
                      <a:noFill/>
                    </a:lnL>
                    <a:lnR>
                      <a:noFill/>
                    </a:lnR>
                    <a:lnT>
                      <a:noFill/>
                    </a:lnT>
                    <a:lnB>
                      <a:noFill/>
                    </a:lnB>
                    <a:noFill/>
                  </a:tcPr>
                </a:tc>
                <a:extLst>
                  <a:ext uri="{0D108BD9-81ED-4DB2-BD59-A6C34878D82A}">
                    <a16:rowId xmlns:a16="http://schemas.microsoft.com/office/drawing/2014/main" val="4106006755"/>
                  </a:ext>
                </a:extLst>
              </a:tr>
              <a:tr h="0">
                <a:tc>
                  <a:txBody>
                    <a:bodyPr/>
                    <a:lstStyle/>
                    <a:p>
                      <a:pPr>
                        <a:buNone/>
                      </a:pPr>
                      <a:r>
                        <a:rPr lang="en-US"/>
                        <a:t>Neyman–Pearson</a:t>
                      </a:r>
                    </a:p>
                  </a:txBody>
                  <a:tcPr anchor="ctr">
                    <a:lnL>
                      <a:noFill/>
                    </a:lnL>
                    <a:lnR>
                      <a:noFill/>
                    </a:lnR>
                    <a:lnT>
                      <a:noFill/>
                    </a:lnT>
                    <a:lnB>
                      <a:noFill/>
                    </a:lnB>
                    <a:noFill/>
                  </a:tcPr>
                </a:tc>
                <a:tc>
                  <a:txBody>
                    <a:bodyPr/>
                    <a:lstStyle/>
                    <a:p>
                      <a:pPr>
                        <a:buNone/>
                      </a:pPr>
                      <a:r>
                        <a:rPr lang="en-US" dirty="0"/>
                        <a:t>Likelihood ratio (optimal test)</a:t>
                      </a:r>
                    </a:p>
                  </a:txBody>
                  <a:tcPr anchor="ctr">
                    <a:lnL>
                      <a:noFill/>
                    </a:lnL>
                    <a:lnR>
                      <a:noFill/>
                    </a:lnR>
                    <a:lnT>
                      <a:noFill/>
                    </a:lnT>
                    <a:lnB>
                      <a:noFill/>
                    </a:lnB>
                    <a:noFill/>
                  </a:tcPr>
                </a:tc>
                <a:extLst>
                  <a:ext uri="{0D108BD9-81ED-4DB2-BD59-A6C34878D82A}">
                    <a16:rowId xmlns:a16="http://schemas.microsoft.com/office/drawing/2014/main" val="210133215"/>
                  </a:ext>
                </a:extLst>
              </a:tr>
              <a:tr h="0">
                <a:tc>
                  <a:txBody>
                    <a:bodyPr/>
                    <a:lstStyle/>
                    <a:p>
                      <a:pPr>
                        <a:buNone/>
                      </a:pPr>
                      <a:r>
                        <a:rPr lang="en-US" dirty="0"/>
                        <a:t>Logistic Regression</a:t>
                      </a:r>
                    </a:p>
                  </a:txBody>
                  <a:tcPr anchor="ctr">
                    <a:lnL>
                      <a:noFill/>
                    </a:lnL>
                    <a:lnR>
                      <a:noFill/>
                    </a:lnR>
                    <a:lnT>
                      <a:noFill/>
                    </a:lnT>
                    <a:lnB>
                      <a:noFill/>
                    </a:lnB>
                    <a:noFill/>
                  </a:tcPr>
                </a:tc>
                <a:tc>
                  <a:txBody>
                    <a:bodyPr/>
                    <a:lstStyle/>
                    <a:p>
                      <a:pPr>
                        <a:buNone/>
                      </a:pPr>
                      <a:r>
                        <a:rPr lang="en-US" dirty="0"/>
                        <a:t>Log-odds model (predictive model)</a:t>
                      </a:r>
                    </a:p>
                  </a:txBody>
                  <a:tcPr anchor="ctr">
                    <a:lnL>
                      <a:noFill/>
                    </a:lnL>
                    <a:lnR>
                      <a:noFill/>
                    </a:lnR>
                    <a:lnT>
                      <a:noFill/>
                    </a:lnT>
                    <a:lnB>
                      <a:noFill/>
                    </a:lnB>
                    <a:noFill/>
                  </a:tcPr>
                </a:tc>
                <a:extLst>
                  <a:ext uri="{0D108BD9-81ED-4DB2-BD59-A6C34878D82A}">
                    <a16:rowId xmlns:a16="http://schemas.microsoft.com/office/drawing/2014/main" val="402700169"/>
                  </a:ext>
                </a:extLst>
              </a:tr>
            </a:tbl>
          </a:graphicData>
        </a:graphic>
      </p:graphicFrame>
    </p:spTree>
    <p:extLst>
      <p:ext uri="{BB962C8B-B14F-4D97-AF65-F5344CB8AC3E}">
        <p14:creationId xmlns:p14="http://schemas.microsoft.com/office/powerpoint/2010/main" val="280651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038782-B1BD-A889-EF94-4ADFF8E0762E}"/>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810A90A4-708F-B45C-5C46-D07E3EB865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B13D1A03-A809-1EEE-D5C2-79A94D7FE6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309BACDE-EC2C-340F-6622-D3B96E564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C507AC9D-FEC8-8920-B0E3-FFE0CB6A0CB3}"/>
                  </a:ext>
                </a:extLst>
              </p:cNvPr>
              <p:cNvSpPr txBox="1"/>
              <p:nvPr/>
            </p:nvSpPr>
            <p:spPr>
              <a:xfrm>
                <a:off x="589391" y="1472375"/>
                <a:ext cx="9659132" cy="3767328"/>
              </a:xfrm>
              <a:prstGeom prst="rect">
                <a:avLst/>
              </a:prstGeom>
            </p:spPr>
            <p:txBody>
              <a:bodyPr vert="horz" lIns="91440" tIns="45720" rIns="91440" bIns="45720" rtlCol="0">
                <a:normAutofit fontScale="92500" lnSpcReduction="10000"/>
              </a:bodyPr>
              <a:lstStyle/>
              <a:p>
                <a:pPr algn="ctr"/>
                <a:r>
                  <a:rPr lang="en-US" b="1" dirty="0"/>
                  <a:t> Summary</a:t>
                </a:r>
              </a:p>
              <a:p>
                <a:pPr algn="ctr"/>
                <a:endParaRPr lang="en-US" b="1" dirty="0"/>
              </a:p>
              <a:p>
                <a:r>
                  <a:rPr lang="en-US" dirty="0"/>
                  <a:t>Bayesian:</a:t>
                </a:r>
              </a:p>
              <a:p>
                <a14:m>
                  <m:oMathPara xmlns:m="http://schemas.openxmlformats.org/officeDocument/2006/math">
                    <m:oMathParaPr>
                      <m:jc m:val="centerGroup"/>
                    </m:oMathParaPr>
                    <m:oMath xmlns:m="http://schemas.openxmlformats.org/officeDocument/2006/math">
                      <m:r>
                        <a:rPr lang="en-US" i="1"/>
                        <m:t>𝑃</m:t>
                      </m:r>
                      <m:d>
                        <m:dPr>
                          <m:ctrlPr>
                            <a:rPr lang="ar-AE" i="1"/>
                          </m:ctrlPr>
                        </m:dPr>
                        <m:e>
                          <m:r>
                            <a:rPr lang="ar-AE" i="1"/>
                            <m:t>𝑌</m:t>
                          </m:r>
                          <m:r>
                            <a:rPr lang="ar-AE"/>
                            <m:t>=</m:t>
                          </m:r>
                          <m:r>
                            <a:rPr lang="ar-AE"/>
                            <m:t>1</m:t>
                          </m:r>
                          <m:r>
                            <a:rPr lang="ar-AE"/>
                            <m:t>∣</m:t>
                          </m:r>
                          <m:r>
                            <a:rPr lang="ar-AE" i="1"/>
                            <m:t>𝑥</m:t>
                          </m:r>
                        </m:e>
                      </m:d>
                    </m:oMath>
                  </m:oMathPara>
                </a14:m>
                <a:endParaRPr lang="en-US" dirty="0"/>
              </a:p>
              <a:p>
                <a:endParaRPr lang="ar-AE" dirty="0"/>
              </a:p>
              <a:p>
                <a:r>
                  <a:rPr lang="en-US" dirty="0"/>
                  <a:t>Neyman–Pearson:</a:t>
                </a:r>
              </a:p>
              <a:p>
                <a14:m>
                  <m:oMathPara xmlns:m="http://schemas.openxmlformats.org/officeDocument/2006/math">
                    <m:oMathParaPr>
                      <m:jc m:val="centerGroup"/>
                    </m:oMathParaPr>
                    <m:oMath xmlns:m="http://schemas.openxmlformats.org/officeDocument/2006/math">
                      <m:f>
                        <m:fPr>
                          <m:ctrlPr>
                            <a:rPr lang="ar-AE"/>
                          </m:ctrlPr>
                        </m:fPr>
                        <m:num>
                          <m:sSub>
                            <m:sSubPr>
                              <m:ctrlPr>
                                <a:rPr lang="ar-AE"/>
                              </m:ctrlPr>
                            </m:sSubPr>
                            <m:e>
                              <m:r>
                                <a:rPr lang="ar-AE" i="1"/>
                                <m:t>𝑓</m:t>
                              </m:r>
                            </m:e>
                            <m:sub>
                              <m:r>
                                <a:rPr lang="ar-AE"/>
                                <m:t>1</m:t>
                              </m:r>
                            </m:sub>
                          </m:sSub>
                          <m:d>
                            <m:dPr>
                              <m:ctrlPr>
                                <a:rPr lang="ar-AE" i="1"/>
                              </m:ctrlPr>
                            </m:dPr>
                            <m:e>
                              <m:r>
                                <a:rPr lang="ar-AE" i="1"/>
                                <m:t>𝑥</m:t>
                              </m:r>
                            </m:e>
                          </m:d>
                        </m:num>
                        <m:den>
                          <m:sSub>
                            <m:sSubPr>
                              <m:ctrlPr>
                                <a:rPr lang="ar-AE" i="1"/>
                              </m:ctrlPr>
                            </m:sSubPr>
                            <m:e>
                              <m:r>
                                <a:rPr lang="ar-AE" i="1"/>
                                <m:t>𝑓</m:t>
                              </m:r>
                            </m:e>
                            <m:sub>
                              <m:r>
                                <a:rPr lang="ar-AE"/>
                                <m:t>0</m:t>
                              </m:r>
                            </m:sub>
                          </m:sSub>
                          <m:d>
                            <m:dPr>
                              <m:ctrlPr>
                                <a:rPr lang="ar-AE" i="1"/>
                              </m:ctrlPr>
                            </m:dPr>
                            <m:e>
                              <m:r>
                                <a:rPr lang="ar-AE" i="1"/>
                                <m:t>𝑥</m:t>
                              </m:r>
                            </m:e>
                          </m:d>
                        </m:den>
                      </m:f>
                    </m:oMath>
                  </m:oMathPara>
                </a14:m>
                <a:endParaRPr lang="en-US" dirty="0"/>
              </a:p>
              <a:p>
                <a:endParaRPr lang="ar-AE" dirty="0"/>
              </a:p>
              <a:p>
                <a:r>
                  <a:rPr lang="en-US" dirty="0"/>
                  <a:t>Logistic regression:</a:t>
                </a:r>
              </a:p>
              <a:p>
                <a14:m>
                  <m:oMathPara xmlns:m="http://schemas.openxmlformats.org/officeDocument/2006/math">
                    <m:oMathParaPr>
                      <m:jc m:val="centerGroup"/>
                    </m:oMathParaPr>
                    <m:oMath xmlns:m="http://schemas.openxmlformats.org/officeDocument/2006/math">
                      <m:func>
                        <m:funcPr>
                          <m:ctrlPr>
                            <a:rPr lang="ar-AE"/>
                          </m:ctrlPr>
                        </m:funcPr>
                        <m:fName>
                          <m:r>
                            <m:rPr>
                              <m:sty m:val="p"/>
                            </m:rPr>
                            <a:rPr lang="en-US"/>
                            <m:t>log</m:t>
                          </m:r>
                        </m:fName>
                        <m:e>
                          <m:f>
                            <m:fPr>
                              <m:ctrlPr>
                                <a:rPr lang="ar-AE" i="1"/>
                              </m:ctrlPr>
                            </m:fPr>
                            <m:num>
                              <m:r>
                                <a:rPr lang="ar-AE" i="1"/>
                                <m:t>𝑃</m:t>
                              </m:r>
                              <m:d>
                                <m:dPr>
                                  <m:ctrlPr>
                                    <a:rPr lang="ar-AE" i="1"/>
                                  </m:ctrlPr>
                                </m:dPr>
                                <m:e>
                                  <m:r>
                                    <a:rPr lang="ar-AE" i="1"/>
                                    <m:t>𝑌</m:t>
                                  </m:r>
                                  <m:r>
                                    <a:rPr lang="ar-AE"/>
                                    <m:t>=</m:t>
                                  </m:r>
                                  <m:r>
                                    <a:rPr lang="ar-AE"/>
                                    <m:t>1</m:t>
                                  </m:r>
                                  <m:r>
                                    <a:rPr lang="ar-AE"/>
                                    <m:t>∣</m:t>
                                  </m:r>
                                  <m:r>
                                    <a:rPr lang="ar-AE" i="1"/>
                                    <m:t>𝑥</m:t>
                                  </m:r>
                                </m:e>
                              </m:d>
                            </m:num>
                            <m:den>
                              <m:r>
                                <a:rPr lang="ar-AE" i="1"/>
                                <m:t>𝑃</m:t>
                              </m:r>
                              <m:d>
                                <m:dPr>
                                  <m:ctrlPr>
                                    <a:rPr lang="ar-AE" i="1"/>
                                  </m:ctrlPr>
                                </m:dPr>
                                <m:e>
                                  <m:r>
                                    <a:rPr lang="ar-AE" i="1"/>
                                    <m:t>𝑌</m:t>
                                  </m:r>
                                  <m:r>
                                    <a:rPr lang="ar-AE"/>
                                    <m:t>=</m:t>
                                  </m:r>
                                  <m:r>
                                    <a:rPr lang="ar-AE"/>
                                    <m:t>0</m:t>
                                  </m:r>
                                  <m:r>
                                    <a:rPr lang="ar-AE"/>
                                    <m:t>∣</m:t>
                                  </m:r>
                                  <m:r>
                                    <a:rPr lang="ar-AE" i="1"/>
                                    <m:t>𝑥</m:t>
                                  </m:r>
                                </m:e>
                              </m:d>
                            </m:den>
                          </m:f>
                        </m:e>
                      </m:func>
                    </m:oMath>
                  </m:oMathPara>
                </a14:m>
                <a:endParaRPr lang="en-US" dirty="0"/>
              </a:p>
              <a:p>
                <a:endParaRPr lang="en-US" dirty="0"/>
              </a:p>
              <a:p>
                <a:r>
                  <a:rPr lang="en-US" dirty="0"/>
                  <a:t>All lead to the same linear decision boundary</a:t>
                </a:r>
              </a:p>
              <a:p>
                <a:pPr algn="ctr"/>
                <a:endParaRPr lang="en-US" b="1" dirty="0"/>
              </a:p>
              <a:p>
                <a:pPr algn="ctr"/>
                <a:endParaRPr lang="en-US" b="1" dirty="0"/>
              </a:p>
              <a:p>
                <a:endParaRPr lang="en-US" b="0" dirty="0"/>
              </a:p>
            </p:txBody>
          </p:sp>
        </mc:Choice>
        <mc:Fallback>
          <p:sp>
            <p:nvSpPr>
              <p:cNvPr id="2" name="TextBox 1">
                <a:extLst>
                  <a:ext uri="{FF2B5EF4-FFF2-40B4-BE49-F238E27FC236}">
                    <a16:creationId xmlns:a16="http://schemas.microsoft.com/office/drawing/2014/main" id="{C507AC9D-FEC8-8920-B0E3-FFE0CB6A0CB3}"/>
                  </a:ext>
                </a:extLst>
              </p:cNvPr>
              <p:cNvSpPr txBox="1">
                <a:spLocks noRot="1" noChangeAspect="1" noMove="1" noResize="1" noEditPoints="1" noAdjustHandles="1" noChangeArrowheads="1" noChangeShapeType="1" noTextEdit="1"/>
              </p:cNvSpPr>
              <p:nvPr/>
            </p:nvSpPr>
            <p:spPr>
              <a:xfrm>
                <a:off x="589391" y="1472375"/>
                <a:ext cx="9659132" cy="3767328"/>
              </a:xfrm>
              <a:prstGeom prst="rect">
                <a:avLst/>
              </a:prstGeom>
              <a:blipFill>
                <a:blip r:embed="rId2"/>
                <a:stretch>
                  <a:fillRect l="-442" t="-1294"/>
                </a:stretch>
              </a:blipFill>
            </p:spPr>
            <p:txBody>
              <a:bodyPr/>
              <a:lstStyle/>
              <a:p>
                <a:r>
                  <a:rPr lang="en-US">
                    <a:noFill/>
                  </a:rPr>
                  <a:t> </a:t>
                </a:r>
              </a:p>
            </p:txBody>
          </p:sp>
        </mc:Fallback>
      </mc:AlternateContent>
      <p:pic>
        <p:nvPicPr>
          <p:cNvPr id="3" name="Picture 2" descr="A blue text on a black background&#10;&#10;AI-generated content may be incorrect.">
            <a:extLst>
              <a:ext uri="{FF2B5EF4-FFF2-40B4-BE49-F238E27FC236}">
                <a16:creationId xmlns:a16="http://schemas.microsoft.com/office/drawing/2014/main" id="{F52A0347-10B3-D47A-6ABB-7C229BF7A30C}"/>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2692532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8CAADD-3B6C-481C-F212-DD78A654D918}"/>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E0E40DDF-B506-ADD7-A16D-0AE5CE6D6D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EB537B9C-74E8-544E-D39A-7E79A2B6E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B8B45CC-9930-836C-A144-B5382A140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363A964D-B38E-7D75-9099-766361D5F85E}"/>
                  </a:ext>
                </a:extLst>
              </p:cNvPr>
              <p:cNvSpPr txBox="1"/>
              <p:nvPr/>
            </p:nvSpPr>
            <p:spPr>
              <a:xfrm>
                <a:off x="589391" y="1472375"/>
                <a:ext cx="9659132" cy="3767328"/>
              </a:xfrm>
              <a:prstGeom prst="rect">
                <a:avLst/>
              </a:prstGeom>
            </p:spPr>
            <p:txBody>
              <a:bodyPr vert="horz" lIns="91440" tIns="45720" rIns="91440" bIns="45720" rtlCol="0">
                <a:normAutofit/>
              </a:bodyPr>
              <a:lstStyle/>
              <a:p>
                <a:pPr algn="ctr"/>
                <a:r>
                  <a:rPr lang="en-US" b="1" dirty="0"/>
                  <a:t> Conclusions</a:t>
                </a:r>
              </a:p>
              <a:p>
                <a:pPr algn="ctr"/>
                <a:endParaRPr lang="en-US" b="1" dirty="0"/>
              </a:p>
              <a:p>
                <a:pPr algn="ctr"/>
                <a:endParaRPr lang="en-US" b="1" dirty="0"/>
              </a:p>
              <a:p>
                <a14:m>
                  <m:oMathPara xmlns:m="http://schemas.openxmlformats.org/officeDocument/2006/math">
                    <m:oMathParaPr>
                      <m:jc m:val="centerGroup"/>
                    </m:oMathParaPr>
                    <m:oMath xmlns:m="http://schemas.openxmlformats.org/officeDocument/2006/math">
                      <m:borderBox>
                        <m:borderBoxPr>
                          <m:ctrlPr>
                            <a:rPr lang="ar-AE"/>
                          </m:ctrlPr>
                        </m:borderBoxPr>
                        <m:e>
                          <m:r>
                            <m:rPr>
                              <m:nor/>
                            </m:rPr>
                            <a:rPr lang="en-US" b="0"/>
                            <m:t>Statistics</m:t>
                          </m:r>
                          <m:r>
                            <m:rPr>
                              <m:nor/>
                            </m:rPr>
                            <a:rPr lang="en-US" b="0" i="1"/>
                            <m:t> </m:t>
                          </m:r>
                          <m:r>
                            <m:rPr>
                              <m:nor/>
                            </m:rPr>
                            <a:rPr lang="en-US" b="0" i="1"/>
                            <m:t>is</m:t>
                          </m:r>
                          <m:r>
                            <m:rPr>
                              <m:nor/>
                            </m:rPr>
                            <a:rPr lang="en-US" b="0" i="1"/>
                            <m:t> </m:t>
                          </m:r>
                          <m:r>
                            <m:rPr>
                              <m:nor/>
                            </m:rPr>
                            <a:rPr lang="en-US" b="0" i="1"/>
                            <m:t>unified</m:t>
                          </m:r>
                          <m:r>
                            <m:rPr>
                              <m:nor/>
                            </m:rPr>
                            <a:rPr lang="en-US" b="0" i="1"/>
                            <m:t> </m:t>
                          </m:r>
                          <m:r>
                            <m:rPr>
                              <m:nor/>
                            </m:rPr>
                            <a:rPr lang="en-US" b="0" i="1"/>
                            <m:t>by</m:t>
                          </m:r>
                          <m:r>
                            <m:rPr>
                              <m:nor/>
                            </m:rPr>
                            <a:rPr lang="en-US" b="0" i="1"/>
                            <m:t> </m:t>
                          </m:r>
                          <m:r>
                            <m:rPr>
                              <m:nor/>
                            </m:rPr>
                            <a:rPr lang="en-US" b="0" i="1"/>
                            <m:t>decision</m:t>
                          </m:r>
                          <m:r>
                            <m:rPr>
                              <m:nor/>
                            </m:rPr>
                            <a:rPr lang="en-US" b="0" i="1"/>
                            <m:t> </m:t>
                          </m:r>
                          <m:r>
                            <m:rPr>
                              <m:nor/>
                            </m:rPr>
                            <a:rPr lang="en-US" b="0" i="1"/>
                            <m:t>theory</m:t>
                          </m:r>
                          <m:r>
                            <m:rPr>
                              <m:nor/>
                            </m:rPr>
                            <a:rPr lang="en-US" b="0" i="1"/>
                            <m:t> </m:t>
                          </m:r>
                          <m:r>
                            <m:rPr>
                              <m:nor/>
                            </m:rPr>
                            <a:rPr lang="en-US" b="0" i="1"/>
                            <m:t>— </m:t>
                          </m:r>
                          <m:r>
                            <m:rPr>
                              <m:nor/>
                            </m:rPr>
                            <a:rPr lang="en-US" b="0" i="1"/>
                            <m:t>philosophy</m:t>
                          </m:r>
                          <m:r>
                            <m:rPr>
                              <m:nor/>
                            </m:rPr>
                            <a:rPr lang="en-US" b="0" i="1"/>
                            <m:t> </m:t>
                          </m:r>
                          <m:r>
                            <m:rPr>
                              <m:nor/>
                            </m:rPr>
                            <a:rPr lang="en-US" b="0" i="1"/>
                            <m:t>only</m:t>
                          </m:r>
                          <m:r>
                            <m:rPr>
                              <m:nor/>
                            </m:rPr>
                            <a:rPr lang="en-US" b="0" i="1"/>
                            <m:t> </m:t>
                          </m:r>
                          <m:r>
                            <m:rPr>
                              <m:nor/>
                            </m:rPr>
                            <a:rPr lang="en-US" b="0" i="1"/>
                            <m:t>changes</m:t>
                          </m:r>
                          <m:r>
                            <m:rPr>
                              <m:nor/>
                            </m:rPr>
                            <a:rPr lang="en-US" b="0" i="1"/>
                            <m:t> </m:t>
                          </m:r>
                          <m:r>
                            <m:rPr>
                              <m:nor/>
                            </m:rPr>
                            <a:rPr lang="en-US" b="0" i="1"/>
                            <m:t>interpretation</m:t>
                          </m:r>
                          <m:r>
                            <m:rPr>
                              <m:nor/>
                            </m:rPr>
                            <a:rPr lang="en-US" b="0" i="1"/>
                            <m:t>.</m:t>
                          </m:r>
                        </m:e>
                      </m:borderBox>
                    </m:oMath>
                  </m:oMathPara>
                </a14:m>
                <a:endParaRPr lang="en-US" b="0" dirty="0"/>
              </a:p>
              <a:p>
                <a:endParaRPr lang="en-US" dirty="0"/>
              </a:p>
              <a:p>
                <a:endParaRPr lang="en-US" dirty="0"/>
              </a:p>
              <a:p>
                <a:r>
                  <a:rPr lang="en-US" dirty="0"/>
                  <a:t>LDA, logistic regression, and hypothesis testing are all solving the same problem — deciding between two distributions — just from different philosophical angles.</a:t>
                </a:r>
                <a:endParaRPr lang="ar-AE" b="0" dirty="0"/>
              </a:p>
              <a:p>
                <a:pPr algn="ctr"/>
                <a:endParaRPr lang="en-US" b="1" dirty="0"/>
              </a:p>
              <a:p>
                <a:pPr algn="ctr"/>
                <a:endParaRPr lang="en-US" b="1" dirty="0"/>
              </a:p>
              <a:p>
                <a:pPr algn="ctr"/>
                <a:endParaRPr lang="en-US" b="1" dirty="0"/>
              </a:p>
              <a:p>
                <a:endParaRPr lang="en-US" b="0" dirty="0"/>
              </a:p>
            </p:txBody>
          </p:sp>
        </mc:Choice>
        <mc:Fallback>
          <p:sp>
            <p:nvSpPr>
              <p:cNvPr id="2" name="TextBox 1">
                <a:extLst>
                  <a:ext uri="{FF2B5EF4-FFF2-40B4-BE49-F238E27FC236}">
                    <a16:creationId xmlns:a16="http://schemas.microsoft.com/office/drawing/2014/main" id="{363A964D-B38E-7D75-9099-766361D5F85E}"/>
                  </a:ext>
                </a:extLst>
              </p:cNvPr>
              <p:cNvSpPr txBox="1">
                <a:spLocks noRot="1" noChangeAspect="1" noMove="1" noResize="1" noEditPoints="1" noAdjustHandles="1" noChangeArrowheads="1" noChangeShapeType="1" noTextEdit="1"/>
              </p:cNvSpPr>
              <p:nvPr/>
            </p:nvSpPr>
            <p:spPr>
              <a:xfrm>
                <a:off x="589391" y="1472375"/>
                <a:ext cx="9659132" cy="3767328"/>
              </a:xfrm>
              <a:prstGeom prst="rect">
                <a:avLst/>
              </a:prstGeom>
              <a:blipFill>
                <a:blip r:embed="rId2"/>
                <a:stretch>
                  <a:fillRect l="-568" t="-971"/>
                </a:stretch>
              </a:blipFill>
            </p:spPr>
            <p:txBody>
              <a:bodyPr/>
              <a:lstStyle/>
              <a:p>
                <a:r>
                  <a:rPr lang="en-US">
                    <a:noFill/>
                  </a:rPr>
                  <a:t> </a:t>
                </a:r>
              </a:p>
            </p:txBody>
          </p:sp>
        </mc:Fallback>
      </mc:AlternateContent>
      <p:pic>
        <p:nvPicPr>
          <p:cNvPr id="3" name="Picture 2" descr="A blue text on a black background&#10;&#10;AI-generated content may be incorrect.">
            <a:extLst>
              <a:ext uri="{FF2B5EF4-FFF2-40B4-BE49-F238E27FC236}">
                <a16:creationId xmlns:a16="http://schemas.microsoft.com/office/drawing/2014/main" id="{B1A1E62C-5BCB-175C-0957-DD24A321ADE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3979954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7122C9-769E-54AA-95FB-467488EB3172}"/>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C5D32820-B180-95CB-E5CC-E984E13753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449C869B-366F-1758-D0D1-C7C1B9FFEA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E5FC153-F312-8576-6B0C-9809F4C9D0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394CD07-FC31-BF5D-C7F8-B53414783916}"/>
              </a:ext>
            </a:extLst>
          </p:cNvPr>
          <p:cNvSpPr txBox="1"/>
          <p:nvPr/>
        </p:nvSpPr>
        <p:spPr>
          <a:xfrm>
            <a:off x="589391" y="1472375"/>
            <a:ext cx="9659132" cy="3767328"/>
          </a:xfrm>
          <a:prstGeom prst="rect">
            <a:avLst/>
          </a:prstGeom>
        </p:spPr>
        <p:txBody>
          <a:bodyPr vert="horz" lIns="91440" tIns="45720" rIns="91440" bIns="45720" rtlCol="0">
            <a:normAutofit/>
          </a:bodyPr>
          <a:lstStyle/>
          <a:p>
            <a:pPr algn="ctr"/>
            <a:r>
              <a:rPr lang="en-US" b="1" dirty="0"/>
              <a:t> References </a:t>
            </a:r>
          </a:p>
          <a:p>
            <a:pPr algn="ctr"/>
            <a:endParaRPr lang="en-US" b="1" dirty="0"/>
          </a:p>
          <a:p>
            <a:pPr algn="ctr"/>
            <a:endParaRPr lang="en-US" b="1" dirty="0"/>
          </a:p>
          <a:p>
            <a:r>
              <a:rPr lang="en-US" dirty="0"/>
              <a:t>James, G., Witten, D., Hastie, T., &amp; </a:t>
            </a:r>
            <a:r>
              <a:rPr lang="en-US" dirty="0" err="1"/>
              <a:t>Tibshirani</a:t>
            </a:r>
            <a:r>
              <a:rPr lang="en-US" dirty="0"/>
              <a:t>, R. (2013). An Introduction to Statistical Learning: With Applications in R (Vol. 112, p. 18). New York: Springer.</a:t>
            </a:r>
          </a:p>
          <a:p>
            <a:r>
              <a:rPr lang="en-US" dirty="0"/>
              <a:t>https://statlearning.com</a:t>
            </a:r>
          </a:p>
          <a:p>
            <a:endParaRPr lang="en-US" b="1" dirty="0"/>
          </a:p>
          <a:p>
            <a:pPr algn="ctr"/>
            <a:endParaRPr lang="en-US" b="1" dirty="0"/>
          </a:p>
          <a:p>
            <a:pPr algn="ctr"/>
            <a:endParaRPr lang="en-US" b="1" dirty="0"/>
          </a:p>
          <a:p>
            <a:pPr/>
            <a:endParaRPr lang="en-US" b="0" dirty="0"/>
          </a:p>
          <a:p>
            <a:endParaRPr lang="en-US" dirty="0"/>
          </a:p>
          <a:p>
            <a:endParaRPr lang="en-US" dirty="0"/>
          </a:p>
          <a:p>
            <a:endParaRPr lang="en-US" b="1" dirty="0"/>
          </a:p>
          <a:p>
            <a:pPr algn="ctr"/>
            <a:endParaRPr lang="en-US" b="1" dirty="0"/>
          </a:p>
          <a:p>
            <a:pPr algn="ctr"/>
            <a:endParaRPr lang="en-US" b="1" dirty="0"/>
          </a:p>
          <a:p>
            <a:endParaRPr lang="en-US" b="0" dirty="0"/>
          </a:p>
        </p:txBody>
      </p:sp>
      <p:pic>
        <p:nvPicPr>
          <p:cNvPr id="3" name="Picture 2" descr="A blue text on a black background&#10;&#10;AI-generated content may be incorrect.">
            <a:extLst>
              <a:ext uri="{FF2B5EF4-FFF2-40B4-BE49-F238E27FC236}">
                <a16:creationId xmlns:a16="http://schemas.microsoft.com/office/drawing/2014/main" id="{E2979334-D254-7423-E729-052D486F800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37325879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6A166F-B501-5E6B-61B8-3208481B2792}"/>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62789555-CC1F-85D8-F5BA-C54EEB4CD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8130023A-5983-A858-0521-BD75694D25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2565D2F-5B36-1E3D-3933-6A22244900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342D7E6-6355-D8C6-CEB8-699E723CC09E}"/>
              </a:ext>
            </a:extLst>
          </p:cNvPr>
          <p:cNvSpPr txBox="1"/>
          <p:nvPr/>
        </p:nvSpPr>
        <p:spPr>
          <a:xfrm>
            <a:off x="589391" y="1472375"/>
            <a:ext cx="9659132" cy="3767328"/>
          </a:xfrm>
          <a:prstGeom prst="rect">
            <a:avLst/>
          </a:prstGeom>
        </p:spPr>
        <p:txBody>
          <a:bodyPr vert="horz" lIns="91440" tIns="45720" rIns="91440" bIns="45720" rtlCol="0">
            <a:normAutofit lnSpcReduction="10000"/>
          </a:bodyPr>
          <a:lstStyle/>
          <a:p>
            <a:pPr algn="ctr"/>
            <a:r>
              <a:rPr lang="en-US" b="1" dirty="0"/>
              <a:t> Final Remarks and Acknowledgement</a:t>
            </a:r>
          </a:p>
          <a:p>
            <a:pPr algn="ctr"/>
            <a:endParaRPr lang="en-US" b="1" dirty="0"/>
          </a:p>
          <a:p>
            <a:pPr algn="ctr"/>
            <a:endParaRPr lang="en-US" b="1" dirty="0"/>
          </a:p>
          <a:p>
            <a:r>
              <a:rPr lang="en-US" dirty="0"/>
              <a:t>This work was inspired by my participation in the Bayesian Thinking in STEM (BATS) Program (Summer 2024) at Vassar College in Poughkeepsie, New York, which emphasized the deep connections and underlying structure of modern Bayesian statistical thinking. </a:t>
            </a:r>
          </a:p>
          <a:p>
            <a:endParaRPr lang="en-US" dirty="0"/>
          </a:p>
          <a:p>
            <a:r>
              <a:rPr lang="en-US" dirty="0"/>
              <a:t>Special thanks to Dr. </a:t>
            </a:r>
            <a:r>
              <a:rPr lang="en-US" dirty="0" err="1"/>
              <a:t>Mokika</a:t>
            </a:r>
            <a:r>
              <a:rPr lang="en-US" dirty="0"/>
              <a:t> Hu (Vassar College), Dr. Mine </a:t>
            </a:r>
            <a:r>
              <a:rPr lang="en-US" dirty="0" err="1"/>
              <a:t>Dogucu</a:t>
            </a:r>
            <a:r>
              <a:rPr lang="en-US" dirty="0"/>
              <a:t> (University of California Irvine), and Dr. Amy Herring (Duke University)</a:t>
            </a:r>
          </a:p>
          <a:p>
            <a:endParaRPr lang="en-US" dirty="0"/>
          </a:p>
          <a:p>
            <a:r>
              <a:rPr lang="en-US" dirty="0"/>
              <a:t>BATS program is supported by </a:t>
            </a:r>
            <a:r>
              <a:rPr lang="en-US" u="sng" dirty="0">
                <a:hlinkClick r:id="rId2"/>
              </a:rPr>
              <a:t>NSF IUSE: EHR program</a:t>
            </a:r>
            <a:r>
              <a:rPr lang="en-US" dirty="0"/>
              <a:t> with award numbers 2215879, 2215920, and 2215709.</a:t>
            </a:r>
          </a:p>
          <a:p>
            <a:endParaRPr lang="en-US" b="1" dirty="0"/>
          </a:p>
          <a:p>
            <a:pPr algn="ctr"/>
            <a:r>
              <a:rPr lang="en-US" b="1" dirty="0"/>
              <a:t>   </a:t>
            </a:r>
          </a:p>
          <a:p>
            <a:pPr algn="ctr"/>
            <a:endParaRPr lang="en-US" b="1" dirty="0"/>
          </a:p>
          <a:p>
            <a:endParaRPr lang="en-US" b="1" dirty="0"/>
          </a:p>
          <a:p>
            <a:pPr algn="ctr"/>
            <a:endParaRPr lang="en-US" b="1" dirty="0"/>
          </a:p>
          <a:p>
            <a:pPr algn="ctr"/>
            <a:endParaRPr lang="en-US" b="1" dirty="0"/>
          </a:p>
          <a:p>
            <a:endParaRPr lang="en-US" b="0" dirty="0"/>
          </a:p>
          <a:p>
            <a:endParaRPr lang="en-US" dirty="0"/>
          </a:p>
          <a:p>
            <a:endParaRPr lang="en-US" dirty="0"/>
          </a:p>
          <a:p>
            <a:endParaRPr lang="en-US" b="1" dirty="0"/>
          </a:p>
          <a:p>
            <a:pPr algn="ctr"/>
            <a:endParaRPr lang="en-US" b="1" dirty="0"/>
          </a:p>
          <a:p>
            <a:pPr algn="ctr"/>
            <a:endParaRPr lang="en-US" b="1" dirty="0"/>
          </a:p>
          <a:p>
            <a:endParaRPr lang="en-US" b="0" dirty="0"/>
          </a:p>
        </p:txBody>
      </p:sp>
      <p:pic>
        <p:nvPicPr>
          <p:cNvPr id="3" name="Picture 2" descr="A blue text on a black background&#10;&#10;AI-generated content may be incorrect.">
            <a:extLst>
              <a:ext uri="{FF2B5EF4-FFF2-40B4-BE49-F238E27FC236}">
                <a16:creationId xmlns:a16="http://schemas.microsoft.com/office/drawing/2014/main" id="{8DAC5D08-DE27-E3D0-AA82-2F74C12CB3ED}"/>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875622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97EBCC-CB43-CA95-4DDA-7317B914BFA4}"/>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17EA72A4-0D86-8E83-332A-0B4124A63C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55EE1B00-DF56-F2E2-52F6-6A33CAFDE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0427892-061B-FCF9-05E2-AF18901CB7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3C94C6D-6DB6-693E-8CA8-7802D6F2E680}"/>
              </a:ext>
            </a:extLst>
          </p:cNvPr>
          <p:cNvSpPr txBox="1"/>
          <p:nvPr/>
        </p:nvSpPr>
        <p:spPr>
          <a:xfrm>
            <a:off x="661818" y="1165458"/>
            <a:ext cx="9659132" cy="4313199"/>
          </a:xfrm>
          <a:prstGeom prst="rect">
            <a:avLst/>
          </a:prstGeom>
        </p:spPr>
        <p:txBody>
          <a:bodyPr vert="horz" lIns="91440" tIns="45720" rIns="91440" bIns="45720" rtlCol="0">
            <a:normAutofit/>
          </a:bodyPr>
          <a:lstStyle/>
          <a:p>
            <a:pPr algn="ctr"/>
            <a:r>
              <a:rPr lang="en-US" b="1" dirty="0"/>
              <a:t> Miscellaneous R Code</a:t>
            </a:r>
          </a:p>
          <a:p>
            <a:pPr marR="0" lvl="0" algn="l" defTabSz="4572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Posterior Probability from LDA Scores</a:t>
            </a:r>
          </a:p>
          <a:p>
            <a:pPr marR="0" lvl="0" algn="l" defTabSz="457200" rtl="0" eaLnBrk="1" fontAlgn="auto" latinLnBrk="0" hangingPunct="1">
              <a:lnSpc>
                <a:spcPct val="100000"/>
              </a:lnSpc>
              <a:spcBef>
                <a:spcPct val="20000"/>
              </a:spcBef>
              <a:spcAft>
                <a:spcPts val="0"/>
              </a:spcAft>
              <a:buClrTx/>
              <a:buSzTx/>
              <a:tabLst/>
              <a:defRPr/>
            </a:pPr>
            <a:r>
              <a:rPr kumimoji="0" lang="en-US" sz="1600" b="0" i="0" u="none" strike="noStrike" kern="1200" cap="none" spc="0" normalizeH="0" baseline="0" noProof="0" dirty="0">
                <a:ln>
                  <a:noFill/>
                </a:ln>
                <a:solidFill>
                  <a:prstClr val="black"/>
                </a:solidFill>
                <a:effectLst/>
                <a:uLnTx/>
                <a:uFillTx/>
                <a:latin typeface="Courier New"/>
                <a:ea typeface="+mn-ea"/>
                <a:cs typeface="+mn-cs"/>
              </a:rPr>
              <a:t>delta0 &lt;- -0.5
delta1 &lt;- 1.2
p1 &lt;- exp(delta1) / (exp(delta0) + exp(delta1))</a:t>
            </a:r>
          </a:p>
          <a:p>
            <a:pPr marR="0" lvl="0" algn="l" defTabSz="457200" rtl="0" eaLnBrk="1" fontAlgn="auto" latinLnBrk="0" hangingPunct="1">
              <a:lnSpc>
                <a:spcPct val="100000"/>
              </a:lnSpc>
              <a:spcBef>
                <a:spcPct val="20000"/>
              </a:spcBef>
              <a:spcAft>
                <a:spcPts val="0"/>
              </a:spcAft>
              <a:buClrTx/>
              <a:buSzTx/>
              <a:tabLst/>
              <a:defRPr/>
            </a:pPr>
            <a:endParaRPr kumimoji="0" lang="en-US" sz="1600" b="0" i="0" u="none" strike="noStrike" kern="1200" cap="none" spc="0" normalizeH="0" baseline="0" noProof="0" dirty="0">
              <a:ln>
                <a:noFill/>
              </a:ln>
              <a:solidFill>
                <a:prstClr val="black"/>
              </a:solidFill>
              <a:effectLst/>
              <a:uLnTx/>
              <a:uFillTx/>
              <a:latin typeface="Courier New"/>
              <a:ea typeface="+mn-ea"/>
              <a:cs typeface="+mn-cs"/>
            </a:endParaRPr>
          </a:p>
          <a:p>
            <a:r>
              <a:rPr lang="en-US" sz="2000" dirty="0"/>
              <a:t>Log-Odds and Logistic Transformation</a:t>
            </a:r>
          </a:p>
          <a:p>
            <a:r>
              <a:rPr lang="en-US" sz="1600" dirty="0">
                <a:latin typeface="Courier New"/>
              </a:rPr>
              <a:t>p &lt;- 0.7
</a:t>
            </a:r>
            <a:r>
              <a:rPr lang="en-US" sz="1600" dirty="0" err="1">
                <a:latin typeface="Courier New"/>
              </a:rPr>
              <a:t>log_odds</a:t>
            </a:r>
            <a:r>
              <a:rPr lang="en-US" sz="1600" dirty="0">
                <a:latin typeface="Courier New"/>
              </a:rPr>
              <a:t> &lt;- log(p / (1 - p))
logistic &lt;- function(z) {1/(1+exp(-z))}</a:t>
            </a:r>
          </a:p>
          <a:p>
            <a:endParaRPr lang="en-US" sz="1600" dirty="0">
              <a:latin typeface="Courier New"/>
            </a:endParaRPr>
          </a:p>
          <a:p>
            <a:r>
              <a:rPr lang="en-US" sz="2000" dirty="0"/>
              <a:t>Likelihood Ratio (Neyman–Pearson)</a:t>
            </a:r>
          </a:p>
          <a:p>
            <a:r>
              <a:rPr lang="en-US" sz="1600" dirty="0">
                <a:latin typeface="Courier New"/>
              </a:rPr>
              <a:t>f0 &lt;- </a:t>
            </a:r>
            <a:r>
              <a:rPr lang="en-US" sz="1600" dirty="0" err="1">
                <a:latin typeface="Courier New"/>
              </a:rPr>
              <a:t>dnorm</a:t>
            </a:r>
            <a:r>
              <a:rPr lang="en-US" sz="1600" dirty="0">
                <a:latin typeface="Courier New"/>
              </a:rPr>
              <a:t>(1,0,1)
f1 &lt;- </a:t>
            </a:r>
            <a:r>
              <a:rPr lang="en-US" sz="1600" dirty="0" err="1">
                <a:latin typeface="Courier New"/>
              </a:rPr>
              <a:t>dnorm</a:t>
            </a:r>
            <a:r>
              <a:rPr lang="en-US" sz="1600" dirty="0">
                <a:latin typeface="Courier New"/>
              </a:rPr>
              <a:t>(1,2,1)
LR &lt;- f1/f0</a:t>
            </a:r>
          </a:p>
          <a:p>
            <a:endParaRPr lang="en-US" sz="1600" dirty="0">
              <a:latin typeface="Courier New"/>
            </a:endParaRPr>
          </a:p>
          <a:p>
            <a:pPr marR="0" lvl="0" algn="l" defTabSz="457200" rtl="0" eaLnBrk="1" fontAlgn="auto" latinLnBrk="0" hangingPunct="1">
              <a:lnSpc>
                <a:spcPct val="100000"/>
              </a:lnSpc>
              <a:spcBef>
                <a:spcPct val="20000"/>
              </a:spcBef>
              <a:spcAft>
                <a:spcPts val="0"/>
              </a:spcAft>
              <a:buClrTx/>
              <a:buSzTx/>
              <a:tabLst/>
              <a:defRPr/>
            </a:pPr>
            <a:endParaRPr kumimoji="0" lang="en-US" sz="1600" b="0" i="0" u="none" strike="noStrike" kern="1200" cap="none" spc="0" normalizeH="0" baseline="0" noProof="0" dirty="0">
              <a:ln>
                <a:noFill/>
              </a:ln>
              <a:solidFill>
                <a:prstClr val="black"/>
              </a:solidFill>
              <a:effectLst/>
              <a:uLnTx/>
              <a:uFillTx/>
              <a:latin typeface="Courier New"/>
              <a:ea typeface="+mn-ea"/>
              <a:cs typeface="+mn-cs"/>
            </a:endParaRPr>
          </a:p>
          <a:p>
            <a:pPr algn="ctr"/>
            <a:endParaRPr lang="en-US" b="1" dirty="0"/>
          </a:p>
          <a:p>
            <a:pPr algn="ctr"/>
            <a:endParaRPr lang="en-US" b="1" dirty="0"/>
          </a:p>
          <a:p>
            <a:pPr algn="ctr"/>
            <a:endParaRPr lang="en-US" b="1" dirty="0"/>
          </a:p>
          <a:p>
            <a:endParaRPr lang="en-US" b="1" dirty="0"/>
          </a:p>
          <a:p>
            <a:pPr algn="ctr"/>
            <a:endParaRPr lang="en-US" b="1" dirty="0"/>
          </a:p>
          <a:p>
            <a:pPr algn="ctr"/>
            <a:endParaRPr lang="en-US" b="1" dirty="0"/>
          </a:p>
          <a:p>
            <a:endParaRPr lang="en-US" b="0" dirty="0"/>
          </a:p>
          <a:p>
            <a:endParaRPr lang="en-US" dirty="0"/>
          </a:p>
          <a:p>
            <a:endParaRPr lang="en-US" dirty="0"/>
          </a:p>
          <a:p>
            <a:endParaRPr lang="en-US" b="1" dirty="0"/>
          </a:p>
          <a:p>
            <a:pPr algn="ctr"/>
            <a:endParaRPr lang="en-US" b="1" dirty="0"/>
          </a:p>
          <a:p>
            <a:pPr algn="ctr"/>
            <a:endParaRPr lang="en-US" b="1" dirty="0"/>
          </a:p>
          <a:p>
            <a:endParaRPr lang="en-US" b="0" dirty="0"/>
          </a:p>
        </p:txBody>
      </p:sp>
      <p:pic>
        <p:nvPicPr>
          <p:cNvPr id="3" name="Picture 2" descr="A blue text on a black background&#10;&#10;AI-generated content may be incorrect.">
            <a:extLst>
              <a:ext uri="{FF2B5EF4-FFF2-40B4-BE49-F238E27FC236}">
                <a16:creationId xmlns:a16="http://schemas.microsoft.com/office/drawing/2014/main" id="{9C285EA5-B6B9-5A31-B540-9E5F6A0D1BD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3377271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84532B-FA6C-4B95-42E2-22B720E674CF}"/>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1D6B6774-A260-E0F1-C543-DBA845E199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2C982538-7263-6CA1-091E-BDA2D5B3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6EE4026-DA2B-AEF3-CCBD-05D4CFD58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462BB865-C598-69B7-0403-89C75BE8644F}"/>
              </a:ext>
            </a:extLst>
          </p:cNvPr>
          <p:cNvSpPr txBox="1"/>
          <p:nvPr/>
        </p:nvSpPr>
        <p:spPr>
          <a:xfrm>
            <a:off x="661818" y="1165458"/>
            <a:ext cx="9659132" cy="4313199"/>
          </a:xfrm>
          <a:prstGeom prst="rect">
            <a:avLst/>
          </a:prstGeom>
        </p:spPr>
        <p:txBody>
          <a:bodyPr vert="horz" lIns="91440" tIns="45720" rIns="91440" bIns="45720" rtlCol="0">
            <a:normAutofit/>
          </a:bodyPr>
          <a:lstStyle/>
          <a:p>
            <a:pPr algn="ctr"/>
            <a:r>
              <a:rPr lang="en-US" b="1" dirty="0"/>
              <a:t> Miscellaneous R Code</a:t>
            </a:r>
          </a:p>
          <a:p>
            <a:endParaRPr lang="en-US" sz="1600" dirty="0">
              <a:latin typeface="Courier New"/>
            </a:endParaRPr>
          </a:p>
          <a:p>
            <a:pPr marR="0" lvl="0" algn="l" defTabSz="457200" rtl="0" eaLnBrk="1" fontAlgn="auto" latinLnBrk="0" hangingPunct="1">
              <a:lnSpc>
                <a:spcPct val="100000"/>
              </a:lnSpc>
              <a:spcBef>
                <a:spcPct val="20000"/>
              </a:spcBef>
              <a:spcAft>
                <a:spcPts val="0"/>
              </a:spcAft>
              <a:buClrTx/>
              <a:buSzTx/>
              <a:tabLst/>
              <a:defRPr/>
            </a:pPr>
            <a:r>
              <a:rPr kumimoji="0" lang="pl-PL" sz="2000" b="0" i="0" u="none" strike="noStrike" kern="1200" cap="none" spc="0" normalizeH="0" baseline="0" noProof="0" dirty="0">
                <a:ln>
                  <a:noFill/>
                </a:ln>
                <a:solidFill>
                  <a:prstClr val="black"/>
                </a:solidFill>
                <a:effectLst/>
                <a:uLnTx/>
                <a:uFillTx/>
                <a:latin typeface="Calibri"/>
                <a:ea typeface="+mn-ea"/>
                <a:cs typeface="+mn-cs"/>
              </a:rPr>
              <a:t>Univariate LDA Discriminant Functions</a:t>
            </a:r>
          </a:p>
          <a:p>
            <a:pPr marR="0" lvl="0" algn="l" defTabSz="457200" rtl="0" eaLnBrk="1" fontAlgn="auto" latinLnBrk="0" hangingPunct="1">
              <a:lnSpc>
                <a:spcPct val="100000"/>
              </a:lnSpc>
              <a:spcBef>
                <a:spcPct val="20000"/>
              </a:spcBef>
              <a:spcAft>
                <a:spcPts val="0"/>
              </a:spcAft>
              <a:buClrTx/>
              <a:buSzTx/>
              <a:tabLst/>
              <a:defRPr/>
            </a:pPr>
            <a:r>
              <a:rPr kumimoji="0" lang="pl-PL" sz="1600" b="0" i="0" u="none" strike="noStrike" kern="1200" cap="none" spc="0" normalizeH="0" baseline="0" noProof="0" dirty="0">
                <a:ln>
                  <a:noFill/>
                </a:ln>
                <a:solidFill>
                  <a:prstClr val="black"/>
                </a:solidFill>
                <a:effectLst/>
                <a:uLnTx/>
                <a:uFillTx/>
                <a:latin typeface="Courier New"/>
                <a:ea typeface="+mn-ea"/>
                <a:cs typeface="+mn-cs"/>
              </a:rPr>
              <a:t>x&lt;-1; mu0&lt;-0; mu1&lt;-2; s2&lt;-1
d0&lt;-x*mu0/s2 - mu0^2/(2*s2) + log(0.5)
d1&lt;-x*mu1/s2 - mu1^2/(2*s2) + log(0.5</a:t>
            </a:r>
            <a:r>
              <a:rPr kumimoji="0" lang="en-US" sz="1600" b="0" i="0" u="none" strike="noStrike" kern="1200" cap="none" spc="0" normalizeH="0" baseline="0" noProof="0" dirty="0">
                <a:ln>
                  <a:noFill/>
                </a:ln>
                <a:solidFill>
                  <a:prstClr val="black"/>
                </a:solidFill>
                <a:effectLst/>
                <a:uLnTx/>
                <a:uFillTx/>
                <a:latin typeface="Courier New"/>
                <a:ea typeface="+mn-ea"/>
                <a:cs typeface="+mn-cs"/>
              </a:rPr>
              <a:t>)</a:t>
            </a:r>
          </a:p>
          <a:p>
            <a:pPr marR="0" lvl="0" algn="l" defTabSz="457200" rtl="0" eaLnBrk="1" fontAlgn="auto" latinLnBrk="0" hangingPunct="1">
              <a:lnSpc>
                <a:spcPct val="100000"/>
              </a:lnSpc>
              <a:spcBef>
                <a:spcPct val="20000"/>
              </a:spcBef>
              <a:spcAft>
                <a:spcPts val="0"/>
              </a:spcAft>
              <a:buClrTx/>
              <a:buSzTx/>
              <a:tabLst/>
              <a:defRPr/>
            </a:pPr>
            <a:endParaRPr lang="en-US" sz="1600" dirty="0">
              <a:solidFill>
                <a:prstClr val="black"/>
              </a:solidFill>
              <a:latin typeface="Courier New"/>
            </a:endParaRPr>
          </a:p>
          <a:p>
            <a:pPr marR="0" lvl="0" algn="l" defTabSz="4572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Simulating Two Gaussian Classes</a:t>
            </a:r>
          </a:p>
          <a:p>
            <a:pPr marR="0" lvl="0" algn="l" defTabSz="457200" rtl="0" eaLnBrk="1" fontAlgn="auto" latinLnBrk="0" hangingPunct="1">
              <a:lnSpc>
                <a:spcPct val="100000"/>
              </a:lnSpc>
              <a:spcBef>
                <a:spcPct val="20000"/>
              </a:spcBef>
              <a:spcAft>
                <a:spcPts val="0"/>
              </a:spcAft>
              <a:buClrTx/>
              <a:buSzTx/>
              <a:tabLst/>
              <a:defRPr/>
            </a:pPr>
            <a:r>
              <a:rPr kumimoji="0" lang="en-US" sz="1600" b="0" i="0" u="none" strike="noStrike" kern="1200" cap="none" spc="0" normalizeH="0" baseline="0" noProof="0" dirty="0" err="1">
                <a:ln>
                  <a:noFill/>
                </a:ln>
                <a:solidFill>
                  <a:prstClr val="black"/>
                </a:solidFill>
                <a:effectLst/>
                <a:uLnTx/>
                <a:uFillTx/>
                <a:latin typeface="Courier New"/>
                <a:ea typeface="+mn-ea"/>
                <a:cs typeface="+mn-cs"/>
              </a:rPr>
              <a:t>set.seed</a:t>
            </a:r>
            <a:r>
              <a:rPr kumimoji="0" lang="en-US" sz="1600" b="0" i="0" u="none" strike="noStrike" kern="1200" cap="none" spc="0" normalizeH="0" baseline="0" noProof="0" dirty="0">
                <a:ln>
                  <a:noFill/>
                </a:ln>
                <a:solidFill>
                  <a:prstClr val="black"/>
                </a:solidFill>
                <a:effectLst/>
                <a:uLnTx/>
                <a:uFillTx/>
                <a:latin typeface="Courier New"/>
                <a:ea typeface="+mn-ea"/>
                <a:cs typeface="+mn-cs"/>
              </a:rPr>
              <a:t>(1)
x0&lt;-</a:t>
            </a:r>
            <a:r>
              <a:rPr kumimoji="0" lang="en-US" sz="1600" b="0" i="0" u="none" strike="noStrike" kern="1200" cap="none" spc="0" normalizeH="0" baseline="0" noProof="0" dirty="0" err="1">
                <a:ln>
                  <a:noFill/>
                </a:ln>
                <a:solidFill>
                  <a:prstClr val="black"/>
                </a:solidFill>
                <a:effectLst/>
                <a:uLnTx/>
                <a:uFillTx/>
                <a:latin typeface="Courier New"/>
                <a:ea typeface="+mn-ea"/>
                <a:cs typeface="+mn-cs"/>
              </a:rPr>
              <a:t>rnorm</a:t>
            </a:r>
            <a:r>
              <a:rPr kumimoji="0" lang="en-US" sz="1600" b="0" i="0" u="none" strike="noStrike" kern="1200" cap="none" spc="0" normalizeH="0" baseline="0" noProof="0" dirty="0">
                <a:ln>
                  <a:noFill/>
                </a:ln>
                <a:solidFill>
                  <a:prstClr val="black"/>
                </a:solidFill>
                <a:effectLst/>
                <a:uLnTx/>
                <a:uFillTx/>
                <a:latin typeface="Courier New"/>
                <a:ea typeface="+mn-ea"/>
                <a:cs typeface="+mn-cs"/>
              </a:rPr>
              <a:t>(100,0,1)
x1&lt;-</a:t>
            </a:r>
            <a:r>
              <a:rPr kumimoji="0" lang="en-US" sz="1600" b="0" i="0" u="none" strike="noStrike" kern="1200" cap="none" spc="0" normalizeH="0" baseline="0" noProof="0" dirty="0" err="1">
                <a:ln>
                  <a:noFill/>
                </a:ln>
                <a:solidFill>
                  <a:prstClr val="black"/>
                </a:solidFill>
                <a:effectLst/>
                <a:uLnTx/>
                <a:uFillTx/>
                <a:latin typeface="Courier New"/>
                <a:ea typeface="+mn-ea"/>
                <a:cs typeface="+mn-cs"/>
              </a:rPr>
              <a:t>rnorm</a:t>
            </a:r>
            <a:r>
              <a:rPr kumimoji="0" lang="en-US" sz="1600" b="0" i="0" u="none" strike="noStrike" kern="1200" cap="none" spc="0" normalizeH="0" baseline="0" noProof="0" dirty="0">
                <a:ln>
                  <a:noFill/>
                </a:ln>
                <a:solidFill>
                  <a:prstClr val="black"/>
                </a:solidFill>
                <a:effectLst/>
                <a:uLnTx/>
                <a:uFillTx/>
                <a:latin typeface="Courier New"/>
                <a:ea typeface="+mn-ea"/>
                <a:cs typeface="+mn-cs"/>
              </a:rPr>
              <a:t>(100,2,1)
y&lt;-factor(c(rep(0,100),rep(1,100)))
x&lt;-c(x0,x1)</a:t>
            </a:r>
          </a:p>
          <a:p>
            <a:pPr marR="0" lvl="0" algn="l" defTabSz="457200" rtl="0" eaLnBrk="1" fontAlgn="auto" latinLnBrk="0" hangingPunct="1">
              <a:lnSpc>
                <a:spcPct val="100000"/>
              </a:lnSpc>
              <a:spcBef>
                <a:spcPct val="20000"/>
              </a:spcBef>
              <a:spcAft>
                <a:spcPts val="0"/>
              </a:spcAft>
              <a:buClrTx/>
              <a:buSzTx/>
              <a:tabLst/>
              <a:defRPr/>
            </a:pPr>
            <a:endParaRPr lang="en-US" sz="1600" dirty="0">
              <a:solidFill>
                <a:prstClr val="black"/>
              </a:solidFill>
              <a:latin typeface="Courier New"/>
            </a:endParaRPr>
          </a:p>
          <a:p>
            <a:pPr marR="0" lvl="0" algn="l" defTabSz="457200" rtl="0" eaLnBrk="1" fontAlgn="auto" latinLnBrk="0" hangingPunct="1">
              <a:lnSpc>
                <a:spcPct val="100000"/>
              </a:lnSpc>
              <a:spcBef>
                <a:spcPct val="20000"/>
              </a:spcBef>
              <a:spcAft>
                <a:spcPts val="0"/>
              </a:spcAft>
              <a:buClrTx/>
              <a:buSzTx/>
              <a:tabLst/>
              <a:defRPr/>
            </a:pPr>
            <a:endParaRPr kumimoji="0" lang="en-US" sz="1600" b="0" i="0" u="none" strike="noStrike" kern="1200" cap="none" spc="0" normalizeH="0" baseline="0" noProof="0" dirty="0">
              <a:ln>
                <a:noFill/>
              </a:ln>
              <a:solidFill>
                <a:prstClr val="black"/>
              </a:solidFill>
              <a:effectLst/>
              <a:uLnTx/>
              <a:uFillTx/>
              <a:latin typeface="Courier New"/>
              <a:ea typeface="+mn-ea"/>
              <a:cs typeface="+mn-cs"/>
            </a:endParaRPr>
          </a:p>
          <a:p>
            <a:pPr algn="ctr"/>
            <a:endParaRPr lang="en-US" b="1" dirty="0"/>
          </a:p>
          <a:p>
            <a:pPr algn="ctr"/>
            <a:endParaRPr lang="en-US" b="1" dirty="0"/>
          </a:p>
          <a:p>
            <a:pPr algn="ctr"/>
            <a:endParaRPr lang="en-US" b="1" dirty="0"/>
          </a:p>
          <a:p>
            <a:endParaRPr lang="en-US" b="1" dirty="0"/>
          </a:p>
          <a:p>
            <a:pPr algn="ctr"/>
            <a:endParaRPr lang="en-US" b="1" dirty="0"/>
          </a:p>
          <a:p>
            <a:pPr algn="ctr"/>
            <a:endParaRPr lang="en-US" b="1" dirty="0"/>
          </a:p>
          <a:p>
            <a:endParaRPr lang="en-US" b="0" dirty="0"/>
          </a:p>
          <a:p>
            <a:endParaRPr lang="en-US" dirty="0"/>
          </a:p>
          <a:p>
            <a:endParaRPr lang="en-US" dirty="0"/>
          </a:p>
          <a:p>
            <a:endParaRPr lang="en-US" b="1" dirty="0"/>
          </a:p>
          <a:p>
            <a:pPr algn="ctr"/>
            <a:endParaRPr lang="en-US" b="1" dirty="0"/>
          </a:p>
          <a:p>
            <a:pPr algn="ctr"/>
            <a:endParaRPr lang="en-US" b="1" dirty="0"/>
          </a:p>
          <a:p>
            <a:endParaRPr lang="en-US" b="0" dirty="0"/>
          </a:p>
        </p:txBody>
      </p:sp>
      <p:pic>
        <p:nvPicPr>
          <p:cNvPr id="3" name="Picture 2" descr="A blue text on a black background&#10;&#10;AI-generated content may be incorrect.">
            <a:extLst>
              <a:ext uri="{FF2B5EF4-FFF2-40B4-BE49-F238E27FC236}">
                <a16:creationId xmlns:a16="http://schemas.microsoft.com/office/drawing/2014/main" id="{47678437-8D28-3A39-49ED-19B49D1D91BA}"/>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481554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D91827-6C9A-290D-A42C-F1BB22D12836}"/>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6C5ED2BE-7973-28D4-9AFF-445F84C95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AF7CD041-A08B-9D3A-8B87-A741F24DA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C9E7AE7-B81C-2688-3711-4D7936177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FCAE23C-5BFB-CF8C-15C7-C143B096A59C}"/>
              </a:ext>
            </a:extLst>
          </p:cNvPr>
          <p:cNvSpPr txBox="1"/>
          <p:nvPr/>
        </p:nvSpPr>
        <p:spPr>
          <a:xfrm>
            <a:off x="661818" y="1165458"/>
            <a:ext cx="9659132" cy="4313199"/>
          </a:xfrm>
          <a:prstGeom prst="rect">
            <a:avLst/>
          </a:prstGeom>
        </p:spPr>
        <p:txBody>
          <a:bodyPr vert="horz" lIns="91440" tIns="45720" rIns="91440" bIns="45720" rtlCol="0">
            <a:normAutofit lnSpcReduction="10000"/>
          </a:bodyPr>
          <a:lstStyle/>
          <a:p>
            <a:pPr algn="ctr"/>
            <a:r>
              <a:rPr lang="en-US" b="1" dirty="0"/>
              <a:t> Miscellaneous R Code</a:t>
            </a:r>
          </a:p>
          <a:p>
            <a:endParaRPr lang="en-US" sz="1600" dirty="0">
              <a:latin typeface="Courier New"/>
            </a:endParaRPr>
          </a:p>
          <a:p>
            <a:pPr marR="0" lvl="0" algn="l" defTabSz="4572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Logistic Regression Model</a:t>
            </a:r>
          </a:p>
          <a:p>
            <a:pPr marR="0" lvl="0" algn="l" defTabSz="457200" rtl="0" eaLnBrk="1" fontAlgn="auto" latinLnBrk="0" hangingPunct="1">
              <a:lnSpc>
                <a:spcPct val="100000"/>
              </a:lnSpc>
              <a:spcBef>
                <a:spcPct val="20000"/>
              </a:spcBef>
              <a:spcAft>
                <a:spcPts val="0"/>
              </a:spcAft>
              <a:buClrTx/>
              <a:buSzTx/>
              <a:tabLst/>
              <a:defRPr/>
            </a:pPr>
            <a:r>
              <a:rPr kumimoji="0" lang="en-US" sz="1600" b="0" i="0" u="none" strike="noStrike" kern="1200" cap="none" spc="0" normalizeH="0" baseline="0" noProof="0" dirty="0" err="1">
                <a:ln>
                  <a:noFill/>
                </a:ln>
                <a:solidFill>
                  <a:prstClr val="black"/>
                </a:solidFill>
                <a:effectLst/>
                <a:uLnTx/>
                <a:uFillTx/>
                <a:latin typeface="Courier New"/>
                <a:ea typeface="+mn-ea"/>
                <a:cs typeface="+mn-cs"/>
              </a:rPr>
              <a:t>dat</a:t>
            </a:r>
            <a:r>
              <a:rPr kumimoji="0" lang="en-US" sz="1600" b="0" i="0" u="none" strike="noStrike" kern="1200" cap="none" spc="0" normalizeH="0" baseline="0" noProof="0" dirty="0">
                <a:ln>
                  <a:noFill/>
                </a:ln>
                <a:solidFill>
                  <a:prstClr val="black"/>
                </a:solidFill>
                <a:effectLst/>
                <a:uLnTx/>
                <a:uFillTx/>
                <a:latin typeface="Courier New"/>
                <a:ea typeface="+mn-ea"/>
                <a:cs typeface="+mn-cs"/>
              </a:rPr>
              <a:t>&lt;-</a:t>
            </a:r>
            <a:r>
              <a:rPr kumimoji="0" lang="en-US" sz="1600" b="0" i="0" u="none" strike="noStrike" kern="1200" cap="none" spc="0" normalizeH="0" baseline="0" noProof="0" dirty="0" err="1">
                <a:ln>
                  <a:noFill/>
                </a:ln>
                <a:solidFill>
                  <a:prstClr val="black"/>
                </a:solidFill>
                <a:effectLst/>
                <a:uLnTx/>
                <a:uFillTx/>
                <a:latin typeface="Courier New"/>
                <a:ea typeface="+mn-ea"/>
                <a:cs typeface="+mn-cs"/>
              </a:rPr>
              <a:t>data.frame</a:t>
            </a:r>
            <a:r>
              <a:rPr kumimoji="0" lang="en-US" sz="1600" b="0" i="0" u="none" strike="noStrike" kern="1200" cap="none" spc="0" normalizeH="0" baseline="0" noProof="0" dirty="0">
                <a:ln>
                  <a:noFill/>
                </a:ln>
                <a:solidFill>
                  <a:prstClr val="black"/>
                </a:solidFill>
                <a:effectLst/>
                <a:uLnTx/>
                <a:uFillTx/>
                <a:latin typeface="Courier New"/>
                <a:ea typeface="+mn-ea"/>
                <a:cs typeface="+mn-cs"/>
              </a:rPr>
              <a:t>(</a:t>
            </a:r>
            <a:r>
              <a:rPr kumimoji="0" lang="en-US" sz="1600" b="0" i="0" u="none" strike="noStrike" kern="1200" cap="none" spc="0" normalizeH="0" baseline="0" noProof="0" dirty="0" err="1">
                <a:ln>
                  <a:noFill/>
                </a:ln>
                <a:solidFill>
                  <a:prstClr val="black"/>
                </a:solidFill>
                <a:effectLst/>
                <a:uLnTx/>
                <a:uFillTx/>
                <a:latin typeface="Courier New"/>
                <a:ea typeface="+mn-ea"/>
                <a:cs typeface="+mn-cs"/>
              </a:rPr>
              <a:t>x,y</a:t>
            </a:r>
            <a:r>
              <a:rPr kumimoji="0" lang="en-US" sz="1600" b="0" i="0" u="none" strike="noStrike" kern="1200" cap="none" spc="0" normalizeH="0" baseline="0" noProof="0" dirty="0">
                <a:ln>
                  <a:noFill/>
                </a:ln>
                <a:solidFill>
                  <a:prstClr val="black"/>
                </a:solidFill>
                <a:effectLst/>
                <a:uLnTx/>
                <a:uFillTx/>
                <a:latin typeface="Courier New"/>
                <a:ea typeface="+mn-ea"/>
                <a:cs typeface="+mn-cs"/>
              </a:rPr>
              <a:t>)
fit&lt;-</a:t>
            </a:r>
            <a:r>
              <a:rPr kumimoji="0" lang="en-US" sz="1600" b="0" i="0" u="none" strike="noStrike" kern="1200" cap="none" spc="0" normalizeH="0" baseline="0" noProof="0" dirty="0" err="1">
                <a:ln>
                  <a:noFill/>
                </a:ln>
                <a:solidFill>
                  <a:prstClr val="black"/>
                </a:solidFill>
                <a:effectLst/>
                <a:uLnTx/>
                <a:uFillTx/>
                <a:latin typeface="Courier New"/>
                <a:ea typeface="+mn-ea"/>
                <a:cs typeface="+mn-cs"/>
              </a:rPr>
              <a:t>glm</a:t>
            </a:r>
            <a:r>
              <a:rPr kumimoji="0" lang="en-US" sz="1600" b="0" i="0" u="none" strike="noStrike" kern="1200" cap="none" spc="0" normalizeH="0" baseline="0" noProof="0" dirty="0">
                <a:ln>
                  <a:noFill/>
                </a:ln>
                <a:solidFill>
                  <a:prstClr val="black"/>
                </a:solidFill>
                <a:effectLst/>
                <a:uLnTx/>
                <a:uFillTx/>
                <a:latin typeface="Courier New"/>
                <a:ea typeface="+mn-ea"/>
                <a:cs typeface="+mn-cs"/>
              </a:rPr>
              <a:t>(</a:t>
            </a:r>
            <a:r>
              <a:rPr kumimoji="0" lang="en-US" sz="1600" b="0" i="0" u="none" strike="noStrike" kern="1200" cap="none" spc="0" normalizeH="0" baseline="0" noProof="0" dirty="0" err="1">
                <a:ln>
                  <a:noFill/>
                </a:ln>
                <a:solidFill>
                  <a:prstClr val="black"/>
                </a:solidFill>
                <a:effectLst/>
                <a:uLnTx/>
                <a:uFillTx/>
                <a:latin typeface="Courier New"/>
                <a:ea typeface="+mn-ea"/>
                <a:cs typeface="+mn-cs"/>
              </a:rPr>
              <a:t>y~x,dat,family</a:t>
            </a:r>
            <a:r>
              <a:rPr kumimoji="0" lang="en-US" sz="1600" b="0" i="0" u="none" strike="noStrike" kern="1200" cap="none" spc="0" normalizeH="0" baseline="0" noProof="0" dirty="0">
                <a:ln>
                  <a:noFill/>
                </a:ln>
                <a:solidFill>
                  <a:prstClr val="black"/>
                </a:solidFill>
                <a:effectLst/>
                <a:uLnTx/>
                <a:uFillTx/>
                <a:latin typeface="Courier New"/>
                <a:ea typeface="+mn-ea"/>
                <a:cs typeface="+mn-cs"/>
              </a:rPr>
              <a:t>=binomial)
summary(fit)</a:t>
            </a:r>
          </a:p>
          <a:p>
            <a:pPr marR="0" lvl="0" algn="l" defTabSz="457200" rtl="0" eaLnBrk="1" fontAlgn="auto" latinLnBrk="0" hangingPunct="1">
              <a:lnSpc>
                <a:spcPct val="100000"/>
              </a:lnSpc>
              <a:spcBef>
                <a:spcPct val="20000"/>
              </a:spcBef>
              <a:spcAft>
                <a:spcPts val="0"/>
              </a:spcAft>
              <a:buClrTx/>
              <a:buSzTx/>
              <a:tabLst/>
              <a:defRPr/>
            </a:pPr>
            <a:endParaRPr kumimoji="0" lang="en-US" sz="1600" b="0" i="0" u="none" strike="noStrike" kern="1200" cap="none" spc="0" normalizeH="0" baseline="0" noProof="0" dirty="0">
              <a:ln>
                <a:noFill/>
              </a:ln>
              <a:solidFill>
                <a:prstClr val="black"/>
              </a:solidFill>
              <a:effectLst/>
              <a:uLnTx/>
              <a:uFillTx/>
              <a:latin typeface="Courier New"/>
              <a:ea typeface="+mn-ea"/>
              <a:cs typeface="+mn-cs"/>
            </a:endParaRPr>
          </a:p>
          <a:p>
            <a:pPr marR="0" lvl="0" algn="l" defTabSz="4572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Predicted Probabilities</a:t>
            </a:r>
          </a:p>
          <a:p>
            <a:pPr marR="0" lvl="0" algn="l" defTabSz="457200" rtl="0" eaLnBrk="1" fontAlgn="auto" latinLnBrk="0" hangingPunct="1">
              <a:lnSpc>
                <a:spcPct val="100000"/>
              </a:lnSpc>
              <a:spcBef>
                <a:spcPct val="20000"/>
              </a:spcBef>
              <a:spcAft>
                <a:spcPts val="0"/>
              </a:spcAft>
              <a:buClrTx/>
              <a:buSzTx/>
              <a:tabLst/>
              <a:defRPr/>
            </a:pPr>
            <a:r>
              <a:rPr kumimoji="0" lang="en-US" sz="1600" b="0" i="0" u="none" strike="noStrike" kern="1200" cap="none" spc="0" normalizeH="0" baseline="0" noProof="0" dirty="0">
                <a:ln>
                  <a:noFill/>
                </a:ln>
                <a:solidFill>
                  <a:prstClr val="black"/>
                </a:solidFill>
                <a:effectLst/>
                <a:uLnTx/>
                <a:uFillTx/>
                <a:latin typeface="Courier New"/>
                <a:ea typeface="+mn-ea"/>
                <a:cs typeface="+mn-cs"/>
              </a:rPr>
              <a:t>prob&lt;-predict(</a:t>
            </a:r>
            <a:r>
              <a:rPr kumimoji="0" lang="en-US" sz="1600" b="0" i="0" u="none" strike="noStrike" kern="1200" cap="none" spc="0" normalizeH="0" baseline="0" noProof="0" dirty="0" err="1">
                <a:ln>
                  <a:noFill/>
                </a:ln>
                <a:solidFill>
                  <a:prstClr val="black"/>
                </a:solidFill>
                <a:effectLst/>
                <a:uLnTx/>
                <a:uFillTx/>
                <a:latin typeface="Courier New"/>
                <a:ea typeface="+mn-ea"/>
                <a:cs typeface="+mn-cs"/>
              </a:rPr>
              <a:t>fit,type</a:t>
            </a:r>
            <a:r>
              <a:rPr kumimoji="0" lang="en-US" sz="1600" b="0" i="0" u="none" strike="noStrike" kern="1200" cap="none" spc="0" normalizeH="0" baseline="0" noProof="0" dirty="0">
                <a:ln>
                  <a:noFill/>
                </a:ln>
                <a:solidFill>
                  <a:prstClr val="black"/>
                </a:solidFill>
                <a:effectLst/>
                <a:uLnTx/>
                <a:uFillTx/>
                <a:latin typeface="Courier New"/>
                <a:ea typeface="+mn-ea"/>
                <a:cs typeface="+mn-cs"/>
              </a:rPr>
              <a:t>="response")
head(prob)</a:t>
            </a:r>
          </a:p>
          <a:p>
            <a:pPr marR="0" lvl="0" algn="l" defTabSz="457200" rtl="0" eaLnBrk="1" fontAlgn="auto" latinLnBrk="0" hangingPunct="1">
              <a:lnSpc>
                <a:spcPct val="100000"/>
              </a:lnSpc>
              <a:spcBef>
                <a:spcPct val="20000"/>
              </a:spcBef>
              <a:spcAft>
                <a:spcPts val="0"/>
              </a:spcAft>
              <a:buClrTx/>
              <a:buSzTx/>
              <a:tabLst/>
              <a:defRPr/>
            </a:pPr>
            <a:endParaRPr lang="en-US" sz="1600" dirty="0">
              <a:solidFill>
                <a:prstClr val="black"/>
              </a:solidFill>
              <a:latin typeface="Courier New"/>
            </a:endParaRPr>
          </a:p>
          <a:p>
            <a:r>
              <a:rPr lang="en-US" sz="2000" dirty="0"/>
              <a:t>LDA Model and Posterior</a:t>
            </a:r>
          </a:p>
          <a:p>
            <a:r>
              <a:rPr lang="en-US" sz="1600" dirty="0">
                <a:latin typeface="Courier New"/>
              </a:rPr>
              <a:t>library(MASS)
</a:t>
            </a:r>
            <a:r>
              <a:rPr lang="en-US" sz="1600" dirty="0" err="1">
                <a:latin typeface="Courier New"/>
              </a:rPr>
              <a:t>fit_lda</a:t>
            </a:r>
            <a:r>
              <a:rPr lang="en-US" sz="1600" dirty="0">
                <a:latin typeface="Courier New"/>
              </a:rPr>
              <a:t>&lt;-</a:t>
            </a:r>
            <a:r>
              <a:rPr lang="en-US" sz="1600" dirty="0" err="1">
                <a:latin typeface="Courier New"/>
              </a:rPr>
              <a:t>lda</a:t>
            </a:r>
            <a:r>
              <a:rPr lang="en-US" sz="1600" dirty="0">
                <a:latin typeface="Courier New"/>
              </a:rPr>
              <a:t>(</a:t>
            </a:r>
            <a:r>
              <a:rPr lang="en-US" sz="1600" dirty="0" err="1">
                <a:latin typeface="Courier New"/>
              </a:rPr>
              <a:t>y~x,dat</a:t>
            </a:r>
            <a:r>
              <a:rPr lang="en-US" sz="1600" dirty="0">
                <a:latin typeface="Courier New"/>
              </a:rPr>
              <a:t>)
pred&lt;-predict(</a:t>
            </a:r>
            <a:r>
              <a:rPr lang="en-US" sz="1600" dirty="0" err="1">
                <a:latin typeface="Courier New"/>
              </a:rPr>
              <a:t>fit_lda</a:t>
            </a:r>
            <a:r>
              <a:rPr lang="en-US" sz="1600" dirty="0">
                <a:latin typeface="Courier New"/>
              </a:rPr>
              <a:t>)
head(</a:t>
            </a:r>
            <a:r>
              <a:rPr lang="en-US" sz="1600" dirty="0" err="1">
                <a:latin typeface="Courier New"/>
              </a:rPr>
              <a:t>pred$posterior</a:t>
            </a:r>
            <a:r>
              <a:rPr lang="en-US" sz="1600" dirty="0">
                <a:latin typeface="Courier New"/>
              </a:rPr>
              <a:t>)</a:t>
            </a:r>
          </a:p>
          <a:p>
            <a:pPr marR="0" lvl="0" algn="l" defTabSz="457200" rtl="0" eaLnBrk="1" fontAlgn="auto" latinLnBrk="0" hangingPunct="1">
              <a:lnSpc>
                <a:spcPct val="100000"/>
              </a:lnSpc>
              <a:spcBef>
                <a:spcPct val="20000"/>
              </a:spcBef>
              <a:spcAft>
                <a:spcPts val="0"/>
              </a:spcAft>
              <a:buClrTx/>
              <a:buSzTx/>
              <a:tabLst/>
              <a:defRPr/>
            </a:pPr>
            <a:endParaRPr kumimoji="0" lang="en-US" sz="1600" b="0" i="0" u="none" strike="noStrike" kern="1200" cap="none" spc="0" normalizeH="0" baseline="0" noProof="0" dirty="0">
              <a:ln>
                <a:noFill/>
              </a:ln>
              <a:solidFill>
                <a:prstClr val="black"/>
              </a:solidFill>
              <a:effectLst/>
              <a:uLnTx/>
              <a:uFillTx/>
              <a:latin typeface="Courier New"/>
              <a:ea typeface="+mn-ea"/>
              <a:cs typeface="+mn-cs"/>
            </a:endParaRPr>
          </a:p>
          <a:p>
            <a:pPr marR="0" lvl="0" algn="l" defTabSz="457200" rtl="0" eaLnBrk="1" fontAlgn="auto" latinLnBrk="0" hangingPunct="1">
              <a:lnSpc>
                <a:spcPct val="100000"/>
              </a:lnSpc>
              <a:spcBef>
                <a:spcPct val="20000"/>
              </a:spcBef>
              <a:spcAft>
                <a:spcPts val="0"/>
              </a:spcAft>
              <a:buClrTx/>
              <a:buSzTx/>
              <a:tabLst/>
              <a:defRPr/>
            </a:pPr>
            <a:endParaRPr kumimoji="0" lang="en-US" sz="1600" b="0" i="0" u="none" strike="noStrike" kern="1200" cap="none" spc="0" normalizeH="0" baseline="0" noProof="0" dirty="0">
              <a:ln>
                <a:noFill/>
              </a:ln>
              <a:solidFill>
                <a:prstClr val="black"/>
              </a:solidFill>
              <a:effectLst/>
              <a:uLnTx/>
              <a:uFillTx/>
              <a:latin typeface="Courier New"/>
              <a:ea typeface="+mn-ea"/>
              <a:cs typeface="+mn-cs"/>
            </a:endParaRPr>
          </a:p>
          <a:p>
            <a:pPr marR="0" lvl="0" algn="l" defTabSz="457200" rtl="0" eaLnBrk="1" fontAlgn="auto" latinLnBrk="0" hangingPunct="1">
              <a:lnSpc>
                <a:spcPct val="100000"/>
              </a:lnSpc>
              <a:spcBef>
                <a:spcPct val="20000"/>
              </a:spcBef>
              <a:spcAft>
                <a:spcPts val="0"/>
              </a:spcAft>
              <a:buClrTx/>
              <a:buSzTx/>
              <a:tabLst/>
              <a:defRPr/>
            </a:pPr>
            <a:endParaRPr kumimoji="0" lang="en-US" sz="1600" b="0" i="0" u="none" strike="noStrike" kern="1200" cap="none" spc="0" normalizeH="0" baseline="0" noProof="0" dirty="0">
              <a:ln>
                <a:noFill/>
              </a:ln>
              <a:solidFill>
                <a:prstClr val="black"/>
              </a:solidFill>
              <a:effectLst/>
              <a:uLnTx/>
              <a:uFillTx/>
              <a:latin typeface="Courier New"/>
              <a:ea typeface="+mn-ea"/>
              <a:cs typeface="+mn-cs"/>
            </a:endParaRPr>
          </a:p>
          <a:p>
            <a:pPr algn="ctr"/>
            <a:endParaRPr lang="en-US" b="1" dirty="0"/>
          </a:p>
          <a:p>
            <a:pPr algn="ctr"/>
            <a:endParaRPr lang="en-US" b="1" dirty="0"/>
          </a:p>
          <a:p>
            <a:pPr algn="ctr"/>
            <a:endParaRPr lang="en-US" b="1" dirty="0"/>
          </a:p>
          <a:p>
            <a:endParaRPr lang="en-US" b="1" dirty="0"/>
          </a:p>
          <a:p>
            <a:pPr algn="ctr"/>
            <a:endParaRPr lang="en-US" b="1" dirty="0"/>
          </a:p>
          <a:p>
            <a:pPr algn="ctr"/>
            <a:endParaRPr lang="en-US" b="1" dirty="0"/>
          </a:p>
          <a:p>
            <a:endParaRPr lang="en-US" b="0" dirty="0"/>
          </a:p>
          <a:p>
            <a:endParaRPr lang="en-US" dirty="0"/>
          </a:p>
          <a:p>
            <a:endParaRPr lang="en-US" dirty="0"/>
          </a:p>
          <a:p>
            <a:endParaRPr lang="en-US" b="1" dirty="0"/>
          </a:p>
          <a:p>
            <a:pPr algn="ctr"/>
            <a:endParaRPr lang="en-US" b="1" dirty="0"/>
          </a:p>
          <a:p>
            <a:pPr algn="ctr"/>
            <a:endParaRPr lang="en-US" b="1" dirty="0"/>
          </a:p>
          <a:p>
            <a:endParaRPr lang="en-US" b="0" dirty="0"/>
          </a:p>
        </p:txBody>
      </p:sp>
      <p:pic>
        <p:nvPicPr>
          <p:cNvPr id="3" name="Picture 2" descr="A blue text on a black background&#10;&#10;AI-generated content may be incorrect.">
            <a:extLst>
              <a:ext uri="{FF2B5EF4-FFF2-40B4-BE49-F238E27FC236}">
                <a16:creationId xmlns:a16="http://schemas.microsoft.com/office/drawing/2014/main" id="{034C3A98-9587-1C9E-EDD1-4C61A97B4D5F}"/>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29089496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854B6E-20F1-25DE-CD96-DF943AB48A12}"/>
            </a:ext>
          </a:extLst>
        </p:cNvPr>
        <p:cNvGrpSpPr/>
        <p:nvPr/>
      </p:nvGrpSpPr>
      <p:grpSpPr>
        <a:xfrm>
          <a:off x="0" y="0"/>
          <a:ext cx="0" cy="0"/>
          <a:chOff x="0" y="0"/>
          <a:chExt cx="0" cy="0"/>
        </a:xfrm>
      </p:grpSpPr>
      <p:sp>
        <p:nvSpPr>
          <p:cNvPr id="8" name="Freeform: Shape 7">
            <a:extLst>
              <a:ext uri="{FF2B5EF4-FFF2-40B4-BE49-F238E27FC236}">
                <a16:creationId xmlns:a16="http://schemas.microsoft.com/office/drawing/2014/main" id="{D86CA7DB-924F-64B4-C883-55651A173E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D079CD43-EA4E-337B-DEF1-41C3C0C457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4417476D-9291-393D-E1CC-E5C30ADD6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6BA9236-DA4B-439E-7F65-91E1A4355AC8}"/>
              </a:ext>
            </a:extLst>
          </p:cNvPr>
          <p:cNvSpPr txBox="1"/>
          <p:nvPr/>
        </p:nvSpPr>
        <p:spPr>
          <a:xfrm>
            <a:off x="661818" y="1165458"/>
            <a:ext cx="9659132" cy="4313199"/>
          </a:xfrm>
          <a:prstGeom prst="rect">
            <a:avLst/>
          </a:prstGeom>
        </p:spPr>
        <p:txBody>
          <a:bodyPr vert="horz" lIns="91440" tIns="45720" rIns="91440" bIns="45720" rtlCol="0">
            <a:normAutofit/>
          </a:bodyPr>
          <a:lstStyle/>
          <a:p>
            <a:pPr algn="ctr"/>
            <a:r>
              <a:rPr lang="en-US" b="1" dirty="0"/>
              <a:t> Miscellaneous R Code</a:t>
            </a:r>
          </a:p>
          <a:p>
            <a:endParaRPr lang="en-US" sz="1600" dirty="0">
              <a:latin typeface="Courier New"/>
            </a:endParaRPr>
          </a:p>
          <a:p>
            <a:pPr marR="0" lvl="0" algn="l" defTabSz="4572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Decision Boundaries</a:t>
            </a:r>
          </a:p>
          <a:p>
            <a:pPr marR="0" lvl="0" algn="l" defTabSz="457200" rtl="0" eaLnBrk="1" fontAlgn="auto" latinLnBrk="0" hangingPunct="1">
              <a:lnSpc>
                <a:spcPct val="100000"/>
              </a:lnSpc>
              <a:spcBef>
                <a:spcPct val="20000"/>
              </a:spcBef>
              <a:spcAft>
                <a:spcPts val="0"/>
              </a:spcAft>
              <a:buClrTx/>
              <a:buSzTx/>
              <a:tabLst/>
              <a:defRPr/>
            </a:pPr>
            <a:r>
              <a:rPr kumimoji="0" lang="en-US" sz="1600" b="0" i="0" u="none" strike="noStrike" kern="1200" cap="none" spc="0" normalizeH="0" baseline="0" noProof="0" dirty="0">
                <a:ln>
                  <a:noFill/>
                </a:ln>
                <a:solidFill>
                  <a:prstClr val="black"/>
                </a:solidFill>
                <a:effectLst/>
                <a:uLnTx/>
                <a:uFillTx/>
                <a:latin typeface="Courier New"/>
                <a:ea typeface="+mn-ea"/>
                <a:cs typeface="+mn-cs"/>
              </a:rPr>
              <a:t>b0&lt;-</a:t>
            </a:r>
            <a:r>
              <a:rPr kumimoji="0" lang="en-US" sz="1600" b="0" i="0" u="none" strike="noStrike" kern="1200" cap="none" spc="0" normalizeH="0" baseline="0" noProof="0" dirty="0" err="1">
                <a:ln>
                  <a:noFill/>
                </a:ln>
                <a:solidFill>
                  <a:prstClr val="black"/>
                </a:solidFill>
                <a:effectLst/>
                <a:uLnTx/>
                <a:uFillTx/>
                <a:latin typeface="Courier New"/>
                <a:ea typeface="+mn-ea"/>
                <a:cs typeface="+mn-cs"/>
              </a:rPr>
              <a:t>coef</a:t>
            </a:r>
            <a:r>
              <a:rPr kumimoji="0" lang="en-US" sz="1600" b="0" i="0" u="none" strike="noStrike" kern="1200" cap="none" spc="0" normalizeH="0" baseline="0" noProof="0" dirty="0">
                <a:ln>
                  <a:noFill/>
                </a:ln>
                <a:solidFill>
                  <a:prstClr val="black"/>
                </a:solidFill>
                <a:effectLst/>
                <a:uLnTx/>
                <a:uFillTx/>
                <a:latin typeface="Courier New"/>
                <a:ea typeface="+mn-ea"/>
                <a:cs typeface="+mn-cs"/>
              </a:rPr>
              <a:t>(fit)[1]</a:t>
            </a:r>
          </a:p>
          <a:p>
            <a:pPr marR="0" lvl="0" algn="l" defTabSz="457200" rtl="0" eaLnBrk="1" fontAlgn="auto" latinLnBrk="0" hangingPunct="1">
              <a:lnSpc>
                <a:spcPct val="100000"/>
              </a:lnSpc>
              <a:spcBef>
                <a:spcPct val="20000"/>
              </a:spcBef>
              <a:spcAft>
                <a:spcPts val="0"/>
              </a:spcAft>
              <a:buClrTx/>
              <a:buSzTx/>
              <a:tabLst/>
              <a:defRPr/>
            </a:pPr>
            <a:r>
              <a:rPr kumimoji="0" lang="en-US" sz="1600" b="0" i="0" u="none" strike="noStrike" kern="1200" cap="none" spc="0" normalizeH="0" baseline="0" noProof="0" dirty="0">
                <a:ln>
                  <a:noFill/>
                </a:ln>
                <a:solidFill>
                  <a:prstClr val="black"/>
                </a:solidFill>
                <a:effectLst/>
                <a:uLnTx/>
                <a:uFillTx/>
                <a:latin typeface="Courier New"/>
                <a:ea typeface="+mn-ea"/>
                <a:cs typeface="+mn-cs"/>
              </a:rPr>
              <a:t>b1&lt;-</a:t>
            </a:r>
            <a:r>
              <a:rPr kumimoji="0" lang="en-US" sz="1600" b="0" i="0" u="none" strike="noStrike" kern="1200" cap="none" spc="0" normalizeH="0" baseline="0" noProof="0" dirty="0" err="1">
                <a:ln>
                  <a:noFill/>
                </a:ln>
                <a:solidFill>
                  <a:prstClr val="black"/>
                </a:solidFill>
                <a:effectLst/>
                <a:uLnTx/>
                <a:uFillTx/>
                <a:latin typeface="Courier New"/>
                <a:ea typeface="+mn-ea"/>
                <a:cs typeface="+mn-cs"/>
              </a:rPr>
              <a:t>coef</a:t>
            </a:r>
            <a:r>
              <a:rPr kumimoji="0" lang="en-US" sz="1600" b="0" i="0" u="none" strike="noStrike" kern="1200" cap="none" spc="0" normalizeH="0" baseline="0" noProof="0" dirty="0">
                <a:ln>
                  <a:noFill/>
                </a:ln>
                <a:solidFill>
                  <a:prstClr val="black"/>
                </a:solidFill>
                <a:effectLst/>
                <a:uLnTx/>
                <a:uFillTx/>
                <a:latin typeface="Courier New"/>
                <a:ea typeface="+mn-ea"/>
                <a:cs typeface="+mn-cs"/>
              </a:rPr>
              <a:t>(fit)[2]
</a:t>
            </a:r>
            <a:r>
              <a:rPr kumimoji="0" lang="en-US" sz="1600" b="0" i="0" u="none" strike="noStrike" kern="1200" cap="none" spc="0" normalizeH="0" baseline="0" noProof="0" dirty="0" err="1">
                <a:ln>
                  <a:noFill/>
                </a:ln>
                <a:solidFill>
                  <a:prstClr val="black"/>
                </a:solidFill>
                <a:effectLst/>
                <a:uLnTx/>
                <a:uFillTx/>
                <a:latin typeface="Courier New"/>
                <a:ea typeface="+mn-ea"/>
                <a:cs typeface="+mn-cs"/>
              </a:rPr>
              <a:t>x_logit</a:t>
            </a:r>
            <a:r>
              <a:rPr kumimoji="0" lang="en-US" sz="1600" b="0" i="0" u="none" strike="noStrike" kern="1200" cap="none" spc="0" normalizeH="0" baseline="0" noProof="0" dirty="0">
                <a:ln>
                  <a:noFill/>
                </a:ln>
                <a:solidFill>
                  <a:prstClr val="black"/>
                </a:solidFill>
                <a:effectLst/>
                <a:uLnTx/>
                <a:uFillTx/>
                <a:latin typeface="Courier New"/>
                <a:ea typeface="+mn-ea"/>
                <a:cs typeface="+mn-cs"/>
              </a:rPr>
              <a:t>&lt;- -b0/b1
</a:t>
            </a:r>
            <a:r>
              <a:rPr kumimoji="0" lang="en-US" sz="1600" b="0" i="0" u="none" strike="noStrike" kern="1200" cap="none" spc="0" normalizeH="0" baseline="0" noProof="0" dirty="0" err="1">
                <a:ln>
                  <a:noFill/>
                </a:ln>
                <a:solidFill>
                  <a:prstClr val="black"/>
                </a:solidFill>
                <a:effectLst/>
                <a:uLnTx/>
                <a:uFillTx/>
                <a:latin typeface="Courier New"/>
                <a:ea typeface="+mn-ea"/>
                <a:cs typeface="+mn-cs"/>
              </a:rPr>
              <a:t>x_lda</a:t>
            </a:r>
            <a:r>
              <a:rPr kumimoji="0" lang="en-US" sz="1600" b="0" i="0" u="none" strike="noStrike" kern="1200" cap="none" spc="0" normalizeH="0" baseline="0" noProof="0" dirty="0">
                <a:ln>
                  <a:noFill/>
                </a:ln>
                <a:solidFill>
                  <a:prstClr val="black"/>
                </a:solidFill>
                <a:effectLst/>
                <a:uLnTx/>
                <a:uFillTx/>
                <a:latin typeface="Courier New"/>
                <a:ea typeface="+mn-ea"/>
                <a:cs typeface="+mn-cs"/>
              </a:rPr>
              <a:t>&lt;- (mean(x0)+mean(x1))/2</a:t>
            </a:r>
          </a:p>
          <a:p>
            <a:pPr marR="0" lvl="0" algn="l" defTabSz="457200" rtl="0" eaLnBrk="1" fontAlgn="auto" latinLnBrk="0" hangingPunct="1">
              <a:lnSpc>
                <a:spcPct val="100000"/>
              </a:lnSpc>
              <a:spcBef>
                <a:spcPct val="20000"/>
              </a:spcBef>
              <a:spcAft>
                <a:spcPts val="0"/>
              </a:spcAft>
              <a:buClrTx/>
              <a:buSzTx/>
              <a:tabLst/>
              <a:defRPr/>
            </a:pPr>
            <a:endParaRPr lang="en-US" sz="1600" dirty="0">
              <a:solidFill>
                <a:prstClr val="black"/>
              </a:solidFill>
              <a:latin typeface="Courier New"/>
            </a:endParaRPr>
          </a:p>
          <a:p>
            <a:pPr marR="0" lvl="0" algn="l" defTabSz="4572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Logistic Curve Visualization</a:t>
            </a:r>
          </a:p>
          <a:p>
            <a:pPr marR="0" lvl="0" algn="l" defTabSz="457200" rtl="0" eaLnBrk="1" fontAlgn="auto" latinLnBrk="0" hangingPunct="1">
              <a:lnSpc>
                <a:spcPct val="100000"/>
              </a:lnSpc>
              <a:spcBef>
                <a:spcPct val="20000"/>
              </a:spcBef>
              <a:spcAft>
                <a:spcPts val="0"/>
              </a:spcAft>
              <a:buClrTx/>
              <a:buSzTx/>
              <a:tabLst/>
              <a:defRPr/>
            </a:pPr>
            <a:r>
              <a:rPr kumimoji="0" lang="en-US" sz="1600" b="0" i="0" u="none" strike="noStrike" kern="1200" cap="none" spc="0" normalizeH="0" baseline="0" noProof="0" dirty="0" err="1">
                <a:ln>
                  <a:noFill/>
                </a:ln>
                <a:solidFill>
                  <a:prstClr val="black"/>
                </a:solidFill>
                <a:effectLst/>
                <a:uLnTx/>
                <a:uFillTx/>
                <a:latin typeface="Courier New"/>
                <a:ea typeface="+mn-ea"/>
                <a:cs typeface="+mn-cs"/>
              </a:rPr>
              <a:t>xg</a:t>
            </a:r>
            <a:r>
              <a:rPr kumimoji="0" lang="en-US" sz="1600" b="0" i="0" u="none" strike="noStrike" kern="1200" cap="none" spc="0" normalizeH="0" baseline="0" noProof="0" dirty="0">
                <a:ln>
                  <a:noFill/>
                </a:ln>
                <a:solidFill>
                  <a:prstClr val="black"/>
                </a:solidFill>
                <a:effectLst/>
                <a:uLnTx/>
                <a:uFillTx/>
                <a:latin typeface="Courier New"/>
                <a:ea typeface="+mn-ea"/>
                <a:cs typeface="+mn-cs"/>
              </a:rPr>
              <a:t>&lt;-seq(-4,6,len=200)
</a:t>
            </a:r>
            <a:r>
              <a:rPr kumimoji="0" lang="en-US" sz="1600" b="0" i="0" u="none" strike="noStrike" kern="1200" cap="none" spc="0" normalizeH="0" baseline="0" noProof="0" dirty="0" err="1">
                <a:ln>
                  <a:noFill/>
                </a:ln>
                <a:solidFill>
                  <a:prstClr val="black"/>
                </a:solidFill>
                <a:effectLst/>
                <a:uLnTx/>
                <a:uFillTx/>
                <a:latin typeface="Courier New"/>
                <a:ea typeface="+mn-ea"/>
                <a:cs typeface="+mn-cs"/>
              </a:rPr>
              <a:t>pg</a:t>
            </a:r>
            <a:r>
              <a:rPr kumimoji="0" lang="en-US" sz="1600" b="0" i="0" u="none" strike="noStrike" kern="1200" cap="none" spc="0" normalizeH="0" baseline="0" noProof="0" dirty="0">
                <a:ln>
                  <a:noFill/>
                </a:ln>
                <a:solidFill>
                  <a:prstClr val="black"/>
                </a:solidFill>
                <a:effectLst/>
                <a:uLnTx/>
                <a:uFillTx/>
                <a:latin typeface="Courier New"/>
                <a:ea typeface="+mn-ea"/>
                <a:cs typeface="+mn-cs"/>
              </a:rPr>
              <a:t>&lt;-predict(</a:t>
            </a:r>
            <a:r>
              <a:rPr kumimoji="0" lang="en-US" sz="1600" b="0" i="0" u="none" strike="noStrike" kern="1200" cap="none" spc="0" normalizeH="0" baseline="0" noProof="0" dirty="0" err="1">
                <a:ln>
                  <a:noFill/>
                </a:ln>
                <a:solidFill>
                  <a:prstClr val="black"/>
                </a:solidFill>
                <a:effectLst/>
                <a:uLnTx/>
                <a:uFillTx/>
                <a:latin typeface="Courier New"/>
                <a:ea typeface="+mn-ea"/>
                <a:cs typeface="+mn-cs"/>
              </a:rPr>
              <a:t>fit,data.frame</a:t>
            </a:r>
            <a:r>
              <a:rPr kumimoji="0" lang="en-US" sz="1600" b="0" i="0" u="none" strike="noStrike" kern="1200" cap="none" spc="0" normalizeH="0" baseline="0" noProof="0" dirty="0">
                <a:ln>
                  <a:noFill/>
                </a:ln>
                <a:solidFill>
                  <a:prstClr val="black"/>
                </a:solidFill>
                <a:effectLst/>
                <a:uLnTx/>
                <a:uFillTx/>
                <a:latin typeface="Courier New"/>
                <a:ea typeface="+mn-ea"/>
                <a:cs typeface="+mn-cs"/>
              </a:rPr>
              <a:t>(x=</a:t>
            </a:r>
            <a:r>
              <a:rPr kumimoji="0" lang="en-US" sz="1600" b="0" i="0" u="none" strike="noStrike" kern="1200" cap="none" spc="0" normalizeH="0" baseline="0" noProof="0" dirty="0" err="1">
                <a:ln>
                  <a:noFill/>
                </a:ln>
                <a:solidFill>
                  <a:prstClr val="black"/>
                </a:solidFill>
                <a:effectLst/>
                <a:uLnTx/>
                <a:uFillTx/>
                <a:latin typeface="Courier New"/>
                <a:ea typeface="+mn-ea"/>
                <a:cs typeface="+mn-cs"/>
              </a:rPr>
              <a:t>xg</a:t>
            </a:r>
            <a:r>
              <a:rPr kumimoji="0" lang="en-US" sz="1600" b="0" i="0" u="none" strike="noStrike" kern="1200" cap="none" spc="0" normalizeH="0" baseline="0" noProof="0" dirty="0">
                <a:ln>
                  <a:noFill/>
                </a:ln>
                <a:solidFill>
                  <a:prstClr val="black"/>
                </a:solidFill>
                <a:effectLst/>
                <a:uLnTx/>
                <a:uFillTx/>
                <a:latin typeface="Courier New"/>
                <a:ea typeface="+mn-ea"/>
                <a:cs typeface="+mn-cs"/>
              </a:rPr>
              <a:t>),type="response")
plot(</a:t>
            </a:r>
            <a:r>
              <a:rPr kumimoji="0" lang="en-US" sz="1600" b="0" i="0" u="none" strike="noStrike" kern="1200" cap="none" spc="0" normalizeH="0" baseline="0" noProof="0" dirty="0" err="1">
                <a:ln>
                  <a:noFill/>
                </a:ln>
                <a:solidFill>
                  <a:prstClr val="black"/>
                </a:solidFill>
                <a:effectLst/>
                <a:uLnTx/>
                <a:uFillTx/>
                <a:latin typeface="Courier New"/>
                <a:ea typeface="+mn-ea"/>
                <a:cs typeface="+mn-cs"/>
              </a:rPr>
              <a:t>x,y</a:t>
            </a:r>
            <a:r>
              <a:rPr kumimoji="0" lang="en-US" sz="1600" b="0" i="0" u="none" strike="noStrike" kern="1200" cap="none" spc="0" normalizeH="0" baseline="0" noProof="0" dirty="0">
                <a:ln>
                  <a:noFill/>
                </a:ln>
                <a:solidFill>
                  <a:prstClr val="black"/>
                </a:solidFill>
                <a:effectLst/>
                <a:uLnTx/>
                <a:uFillTx/>
                <a:latin typeface="Courier New"/>
                <a:ea typeface="+mn-ea"/>
                <a:cs typeface="+mn-cs"/>
              </a:rPr>
              <a:t>); lines(</a:t>
            </a:r>
            <a:r>
              <a:rPr kumimoji="0" lang="en-US" sz="1600" b="0" i="0" u="none" strike="noStrike" kern="1200" cap="none" spc="0" normalizeH="0" baseline="0" noProof="0" dirty="0" err="1">
                <a:ln>
                  <a:noFill/>
                </a:ln>
                <a:solidFill>
                  <a:prstClr val="black"/>
                </a:solidFill>
                <a:effectLst/>
                <a:uLnTx/>
                <a:uFillTx/>
                <a:latin typeface="Courier New"/>
                <a:ea typeface="+mn-ea"/>
                <a:cs typeface="+mn-cs"/>
              </a:rPr>
              <a:t>xg,pg</a:t>
            </a:r>
            <a:r>
              <a:rPr kumimoji="0" lang="en-US" sz="1600" b="0" i="0" u="none" strike="noStrike" kern="1200" cap="none" spc="0" normalizeH="0" baseline="0" noProof="0" dirty="0">
                <a:ln>
                  <a:noFill/>
                </a:ln>
                <a:solidFill>
                  <a:prstClr val="black"/>
                </a:solidFill>
                <a:effectLst/>
                <a:uLnTx/>
                <a:uFillTx/>
                <a:latin typeface="Courier New"/>
                <a:ea typeface="+mn-ea"/>
                <a:cs typeface="+mn-cs"/>
              </a:rPr>
              <a:t>)</a:t>
            </a:r>
          </a:p>
          <a:p>
            <a:pPr marR="0" lvl="0" algn="l" defTabSz="457200" rtl="0" eaLnBrk="1" fontAlgn="auto" latinLnBrk="0" hangingPunct="1">
              <a:lnSpc>
                <a:spcPct val="100000"/>
              </a:lnSpc>
              <a:spcBef>
                <a:spcPct val="20000"/>
              </a:spcBef>
              <a:spcAft>
                <a:spcPts val="0"/>
              </a:spcAft>
              <a:buClrTx/>
              <a:buSzTx/>
              <a:tabLst/>
              <a:defRPr/>
            </a:pPr>
            <a:endParaRPr kumimoji="0" lang="en-US" sz="1600" b="0" i="0" u="none" strike="noStrike" kern="1200" cap="none" spc="0" normalizeH="0" baseline="0" noProof="0" dirty="0">
              <a:ln>
                <a:noFill/>
              </a:ln>
              <a:solidFill>
                <a:prstClr val="black"/>
              </a:solidFill>
              <a:effectLst/>
              <a:uLnTx/>
              <a:uFillTx/>
              <a:latin typeface="Courier New"/>
              <a:ea typeface="+mn-ea"/>
              <a:cs typeface="+mn-cs"/>
            </a:endParaRPr>
          </a:p>
          <a:p>
            <a:pPr marR="0" lvl="0" algn="l" defTabSz="457200" rtl="0" eaLnBrk="1" fontAlgn="auto" latinLnBrk="0" hangingPunct="1">
              <a:lnSpc>
                <a:spcPct val="100000"/>
              </a:lnSpc>
              <a:spcBef>
                <a:spcPct val="20000"/>
              </a:spcBef>
              <a:spcAft>
                <a:spcPts val="0"/>
              </a:spcAft>
              <a:buClrTx/>
              <a:buSzTx/>
              <a:tabLst/>
              <a:defRPr/>
            </a:pPr>
            <a:endParaRPr kumimoji="0" lang="en-US" sz="1600" b="0" i="0" u="none" strike="noStrike" kern="1200" cap="none" spc="0" normalizeH="0" baseline="0" noProof="0" dirty="0">
              <a:ln>
                <a:noFill/>
              </a:ln>
              <a:solidFill>
                <a:prstClr val="black"/>
              </a:solidFill>
              <a:effectLst/>
              <a:uLnTx/>
              <a:uFillTx/>
              <a:latin typeface="Courier New"/>
              <a:ea typeface="+mn-ea"/>
              <a:cs typeface="+mn-cs"/>
            </a:endParaRPr>
          </a:p>
          <a:p>
            <a:pPr marR="0" lvl="0" algn="l" defTabSz="457200" rtl="0" eaLnBrk="1" fontAlgn="auto" latinLnBrk="0" hangingPunct="1">
              <a:lnSpc>
                <a:spcPct val="100000"/>
              </a:lnSpc>
              <a:spcBef>
                <a:spcPct val="20000"/>
              </a:spcBef>
              <a:spcAft>
                <a:spcPts val="0"/>
              </a:spcAft>
              <a:buClrTx/>
              <a:buSzTx/>
              <a:tabLst/>
              <a:defRPr/>
            </a:pPr>
            <a:endParaRPr kumimoji="0" lang="en-US" sz="1600" b="0" i="0" u="none" strike="noStrike" kern="1200" cap="none" spc="0" normalizeH="0" baseline="0" noProof="0" dirty="0">
              <a:ln>
                <a:noFill/>
              </a:ln>
              <a:solidFill>
                <a:prstClr val="black"/>
              </a:solidFill>
              <a:effectLst/>
              <a:uLnTx/>
              <a:uFillTx/>
              <a:latin typeface="Courier New"/>
              <a:ea typeface="+mn-ea"/>
              <a:cs typeface="+mn-cs"/>
            </a:endParaRPr>
          </a:p>
          <a:p>
            <a:pPr algn="ctr"/>
            <a:endParaRPr lang="en-US" b="1" dirty="0"/>
          </a:p>
          <a:p>
            <a:pPr algn="ctr"/>
            <a:endParaRPr lang="en-US" b="1" dirty="0"/>
          </a:p>
          <a:p>
            <a:pPr algn="ctr"/>
            <a:endParaRPr lang="en-US" b="1" dirty="0"/>
          </a:p>
          <a:p>
            <a:endParaRPr lang="en-US" b="1" dirty="0"/>
          </a:p>
          <a:p>
            <a:pPr algn="ctr"/>
            <a:endParaRPr lang="en-US" b="1" dirty="0"/>
          </a:p>
          <a:p>
            <a:pPr algn="ctr"/>
            <a:endParaRPr lang="en-US" b="1" dirty="0"/>
          </a:p>
          <a:p>
            <a:endParaRPr lang="en-US" b="0" dirty="0"/>
          </a:p>
          <a:p>
            <a:endParaRPr lang="en-US" dirty="0"/>
          </a:p>
          <a:p>
            <a:endParaRPr lang="en-US" dirty="0"/>
          </a:p>
          <a:p>
            <a:endParaRPr lang="en-US" b="1" dirty="0"/>
          </a:p>
          <a:p>
            <a:pPr algn="ctr"/>
            <a:endParaRPr lang="en-US" b="1" dirty="0"/>
          </a:p>
          <a:p>
            <a:pPr algn="ctr"/>
            <a:endParaRPr lang="en-US" b="1" dirty="0"/>
          </a:p>
          <a:p>
            <a:endParaRPr lang="en-US" b="0" dirty="0"/>
          </a:p>
        </p:txBody>
      </p:sp>
      <p:pic>
        <p:nvPicPr>
          <p:cNvPr id="3" name="Picture 2" descr="A blue text on a black background&#10;&#10;AI-generated content may be incorrect.">
            <a:extLst>
              <a:ext uri="{FF2B5EF4-FFF2-40B4-BE49-F238E27FC236}">
                <a16:creationId xmlns:a16="http://schemas.microsoft.com/office/drawing/2014/main" id="{4E1E65B3-83DC-4270-8F95-E8170CA384B6}"/>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342642" y="5478658"/>
            <a:ext cx="4388258" cy="1140382"/>
          </a:xfrm>
          <a:prstGeom prst="rect">
            <a:avLst/>
          </a:prstGeom>
        </p:spPr>
      </p:pic>
    </p:spTree>
    <p:extLst>
      <p:ext uri="{BB962C8B-B14F-4D97-AF65-F5344CB8AC3E}">
        <p14:creationId xmlns:p14="http://schemas.microsoft.com/office/powerpoint/2010/main" val="317012763"/>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1560</TotalTime>
  <Words>1003</Words>
  <Application>Microsoft Office PowerPoint</Application>
  <PresentationFormat>Widescreen</PresentationFormat>
  <Paragraphs>293</Paragraphs>
  <Slides>23</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Arial</vt:lpstr>
      <vt:lpstr>Bierstadt</vt:lpstr>
      <vt:lpstr>Calibri</vt:lpstr>
      <vt:lpstr>Cambria Math</vt:lpstr>
      <vt:lpstr>Courier New</vt:lpstr>
      <vt:lpstr>GestaltVTI</vt:lpstr>
      <vt:lpstr>Bayesian vs Frequentist Decision Frameworks Connections via LDA, Neyman–Pearson, and Logistic Regression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Miami Dade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Hernandez, Eric</dc:creator>
  <cp:lastModifiedBy>Hernandez, Eric</cp:lastModifiedBy>
  <cp:revision>23</cp:revision>
  <dcterms:created xsi:type="dcterms:W3CDTF">2026-03-26T04:12:06Z</dcterms:created>
  <dcterms:modified xsi:type="dcterms:W3CDTF">2026-03-27T06:13:04Z</dcterms:modified>
</cp:coreProperties>
</file>